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86" r:id="rId5"/>
    <p:sldMasterId id="2147483667" r:id="rId6"/>
    <p:sldMasterId id="2147483653" r:id="rId7"/>
  </p:sldMasterIdLst>
  <p:notesMasterIdLst>
    <p:notesMasterId r:id="rId30"/>
  </p:notesMasterIdLst>
  <p:handoutMasterIdLst>
    <p:handoutMasterId r:id="rId31"/>
  </p:handoutMasterIdLst>
  <p:sldIdLst>
    <p:sldId id="285" r:id="rId8"/>
    <p:sldId id="297" r:id="rId9"/>
    <p:sldId id="300" r:id="rId10"/>
    <p:sldId id="287" r:id="rId11"/>
    <p:sldId id="288" r:id="rId12"/>
    <p:sldId id="296" r:id="rId13"/>
    <p:sldId id="298" r:id="rId14"/>
    <p:sldId id="290" r:id="rId15"/>
    <p:sldId id="289" r:id="rId16"/>
    <p:sldId id="259" r:id="rId17"/>
    <p:sldId id="260" r:id="rId18"/>
    <p:sldId id="299" r:id="rId19"/>
    <p:sldId id="263" r:id="rId20"/>
    <p:sldId id="264" r:id="rId21"/>
    <p:sldId id="272" r:id="rId22"/>
    <p:sldId id="294" r:id="rId23"/>
    <p:sldId id="281" r:id="rId24"/>
    <p:sldId id="274" r:id="rId25"/>
    <p:sldId id="275" r:id="rId26"/>
    <p:sldId id="265" r:id="rId27"/>
    <p:sldId id="266" r:id="rId28"/>
    <p:sldId id="277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1ere page" id="{590628D9-7A78-1B4A-8E52-CF6FBA4C2E16}">
          <p14:sldIdLst>
            <p14:sldId id="285"/>
          </p14:sldIdLst>
        </p14:section>
        <p14:section name="Contenu" id="{E57D0255-CD7C-0247-AACA-E77067297DDD}">
          <p14:sldIdLst>
            <p14:sldId id="297"/>
            <p14:sldId id="300"/>
            <p14:sldId id="287"/>
            <p14:sldId id="288"/>
            <p14:sldId id="296"/>
            <p14:sldId id="298"/>
            <p14:sldId id="290"/>
            <p14:sldId id="289"/>
            <p14:sldId id="259"/>
            <p14:sldId id="260"/>
            <p14:sldId id="299"/>
            <p14:sldId id="263"/>
            <p14:sldId id="264"/>
            <p14:sldId id="272"/>
            <p14:sldId id="294"/>
            <p14:sldId id="281"/>
            <p14:sldId id="274"/>
            <p14:sldId id="275"/>
            <p14:sldId id="265"/>
            <p14:sldId id="26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72FF"/>
    <a:srgbClr val="C7DBFF"/>
    <a:srgbClr val="19A97B"/>
    <a:srgbClr val="FF5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74"/>
    <p:restoredTop sz="96327"/>
  </p:normalViewPr>
  <p:slideViewPr>
    <p:cSldViewPr snapToGrid="0">
      <p:cViewPr varScale="1">
        <p:scale>
          <a:sx n="110" d="100"/>
          <a:sy n="110" d="100"/>
        </p:scale>
        <p:origin x="138" y="372"/>
      </p:cViewPr>
      <p:guideLst/>
    </p:cSldViewPr>
  </p:slideViewPr>
  <p:outlineViewPr>
    <p:cViewPr>
      <p:scale>
        <a:sx n="33" d="100"/>
        <a:sy n="33" d="100"/>
      </p:scale>
      <p:origin x="0" y="-59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77364AA-C67D-7EAC-4B03-749A969BB4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25E4892-6C31-B6E1-C005-8225386C82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674B3-82A0-4844-89F4-571734DCC9C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C3F263-37AC-4E5C-0572-2FB9B2052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P.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C22E50-11F0-B410-6744-9A89032091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9A98C-83C1-1442-9349-A86116DFDD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2861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0C327-9646-864A-893D-3A1133584B0F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P.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1E9EB-3703-E64B-91D9-DBB904B66F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79289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P.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1E9EB-3703-E64B-91D9-DBB904B66F1D}" type="slidenum">
              <a:rPr lang="fr-FR" smtClean="0"/>
              <a:t>9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6EA68CA-E007-E7E2-68D4-312B607DA45D}"/>
              </a:ext>
            </a:extLst>
          </p:cNvPr>
          <p:cNvSpPr txBox="1"/>
          <p:nvPr/>
        </p:nvSpPr>
        <p:spPr>
          <a:xfrm>
            <a:off x="1706218" y="4275339"/>
            <a:ext cx="343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1. présentation </a:t>
            </a:r>
            <a:r>
              <a:rPr lang="fr-FR" dirty="0">
                <a:solidFill>
                  <a:srgbClr val="2072FF"/>
                </a:solidFill>
              </a:rPr>
              <a:t>/ 1.1 méthodologie</a:t>
            </a:r>
          </a:p>
        </p:txBody>
      </p:sp>
    </p:spTree>
    <p:extLst>
      <p:ext uri="{BB962C8B-B14F-4D97-AF65-F5344CB8AC3E}">
        <p14:creationId xmlns:p14="http://schemas.microsoft.com/office/powerpoint/2010/main" val="1770383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P.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1E9EB-3703-E64B-91D9-DBB904B66F1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583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P.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1E9EB-3703-E64B-91D9-DBB904B66F1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20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onne contenu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C2512C8A-2759-3B61-5E11-57BE3DD95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cap="all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contenu 4">
            <a:extLst>
              <a:ext uri="{FF2B5EF4-FFF2-40B4-BE49-F238E27FC236}">
                <a16:creationId xmlns:a16="http://schemas.microsoft.com/office/drawing/2014/main" id="{DA17F74C-93CD-E1B9-E58C-A9A9CE94412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713" y="2492375"/>
            <a:ext cx="10585450" cy="3492500"/>
          </a:xfrm>
          <a:prstGeom prst="rect">
            <a:avLst/>
          </a:prstGeom>
        </p:spPr>
        <p:txBody>
          <a:bodyPr/>
          <a:lstStyle>
            <a:lvl1pPr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  <a:p>
            <a:pPr lvl="0"/>
            <a:endParaRPr lang="fr-FR" dirty="0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630AE7F2-E4E2-CD46-54B2-10E2FDC8F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E46F2F-A6D6-A6C3-4493-6D89620DD5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458698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 txt - image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75EEBF99-B38B-71F8-6454-5376DC7496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4713" y="2492375"/>
            <a:ext cx="6153396" cy="3492500"/>
          </a:xfrm>
          <a:prstGeom prst="rect">
            <a:avLst/>
          </a:prstGeom>
        </p:spPr>
        <p:txBody>
          <a:bodyPr lIns="0" tIns="0" rIns="0" bIns="0" numCol="1" anchor="t"/>
          <a:lstStyle>
            <a:lvl1pPr>
              <a:lnSpc>
                <a:spcPts val="1500"/>
              </a:lnSpc>
              <a:spcBef>
                <a:spcPts val="0"/>
              </a:spcBef>
              <a:defRPr sz="1100" b="0" i="0" spc="0" baseline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Texte courant paragraphe</a:t>
            </a:r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66A203F9-83ED-6B21-E910-84C813BB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cap="all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7E90E4F2-8B30-162F-0DDA-9B0167E0B0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0" hasCustomPrompt="1"/>
          </p:nvPr>
        </p:nvSpPr>
        <p:spPr>
          <a:xfrm>
            <a:off x="7896225" y="2490932"/>
            <a:ext cx="3563938" cy="3492500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01B3BDD2-F4BE-2753-C6B8-86A8BCB20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5CC64BFF-560C-F43C-1BF9-5C39E51CA3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2016663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 images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8956E557-34AB-D152-66B3-BFF149D2AB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3314" y="5793219"/>
            <a:ext cx="4233861" cy="177329"/>
          </a:xfrm>
          <a:prstGeom prst="rect">
            <a:avLst/>
          </a:prstGeom>
        </p:spPr>
        <p:txBody>
          <a:bodyPr lIns="0" tIns="0" rIns="0" bIns="0" numCol="1" anchor="t"/>
          <a:lstStyle>
            <a:lvl1pPr algn="ctr">
              <a:lnSpc>
                <a:spcPts val="1440"/>
              </a:lnSpc>
              <a:spcBef>
                <a:spcPts val="0"/>
              </a:spcBef>
              <a:defRPr sz="1400" b="1" i="0" cap="all" spc="0" baseline="0">
                <a:solidFill>
                  <a:schemeClr val="tx1"/>
                </a:solidFill>
                <a:latin typeface="Arial Black" panose="020B0604020202020204" pitchFamily="34" charset="0"/>
                <a:ea typeface="Verdana" panose="020B060403050404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MOTS CLÉS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809A6514-C10B-6CA7-B6AB-06772D8D44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712" y="5803151"/>
            <a:ext cx="4233861" cy="177329"/>
          </a:xfrm>
          <a:prstGeom prst="rect">
            <a:avLst/>
          </a:prstGeom>
        </p:spPr>
        <p:txBody>
          <a:bodyPr lIns="0" tIns="0" rIns="0" bIns="0" numCol="1" anchor="t"/>
          <a:lstStyle>
            <a:lvl1pPr algn="ctr">
              <a:lnSpc>
                <a:spcPts val="1440"/>
              </a:lnSpc>
              <a:spcBef>
                <a:spcPts val="0"/>
              </a:spcBef>
              <a:defRPr sz="1400" b="1" i="0" cap="all" spc="0" baseline="0">
                <a:solidFill>
                  <a:schemeClr val="tx1"/>
                </a:solidFill>
                <a:latin typeface="Arial Black" panose="020B0604020202020204" pitchFamily="34" charset="0"/>
                <a:ea typeface="Verdana" panose="020B060403050404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MOTS CLÉS</a:t>
            </a:r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C76016AD-9DE6-0787-30B7-956C4679F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cap="all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56F77434-05D3-0CD9-D18C-3DF1C26FA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3" name="Espace réservé du contenu 11">
            <a:extLst>
              <a:ext uri="{FF2B5EF4-FFF2-40B4-BE49-F238E27FC236}">
                <a16:creationId xmlns:a16="http://schemas.microsoft.com/office/drawing/2014/main" id="{7EBB5351-235B-41EC-70E6-746DE12B496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4711" y="2490932"/>
            <a:ext cx="4249737" cy="3030637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3D1D2EE1-6362-795C-881F-1F4BE827989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314" y="2492375"/>
            <a:ext cx="4233860" cy="3029194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F79E48C-F64D-5B7E-6070-596A69CE58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56599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 txt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6">
            <a:extLst>
              <a:ext uri="{FF2B5EF4-FFF2-40B4-BE49-F238E27FC236}">
                <a16:creationId xmlns:a16="http://schemas.microsoft.com/office/drawing/2014/main" id="{32737D79-21CA-53EB-890D-49F89636D1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4712" y="2492375"/>
            <a:ext cx="9532464" cy="3492500"/>
          </a:xfrm>
          <a:prstGeom prst="rect">
            <a:avLst/>
          </a:prstGeom>
        </p:spPr>
        <p:txBody>
          <a:bodyPr lIns="0" tIns="0" rIns="0" bIns="0" numCol="2" spcCol="1044000" anchor="ctr" anchorCtr="0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sz="1100" b="0" i="0" spc="0" baseline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b="1" dirty="0"/>
              <a:t>Texte long paragraphe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  <a:r>
              <a:rPr lang="fr-FR" b="1" dirty="0"/>
              <a:t> Lorem Ipsum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  <a:r>
              <a:rPr lang="fr-FR" b="1" dirty="0"/>
              <a:t> </a:t>
            </a:r>
            <a:r>
              <a:rPr lang="fr-FR" dirty="0"/>
              <a:t>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CB68742-1D61-0EB9-BC49-C1F15462F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cap="all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C89CB4AA-DFB5-7983-8A21-6954F95A9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05AC67F2-9D22-E468-0B50-003EE45EF6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525472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 txt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16">
            <a:extLst>
              <a:ext uri="{FF2B5EF4-FFF2-40B4-BE49-F238E27FC236}">
                <a16:creationId xmlns:a16="http://schemas.microsoft.com/office/drawing/2014/main" id="{F3C01D5B-8ED2-0DE5-8EE2-E71041581C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4711" y="2492375"/>
            <a:ext cx="10567897" cy="3476347"/>
          </a:xfrm>
          <a:prstGeom prst="rect">
            <a:avLst/>
          </a:prstGeom>
        </p:spPr>
        <p:txBody>
          <a:bodyPr lIns="0" tIns="0" rIns="0" bIns="0" numCol="3" spcCol="828000" anchor="ctr" anchorCtr="0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sz="1100" b="0" i="0" spc="0" baseline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b="1" dirty="0"/>
              <a:t>Texte long paragraphe </a:t>
            </a:r>
            <a:r>
              <a:rPr lang="fr-FR" dirty="0" err="1"/>
              <a:t>lorem</a:t>
            </a:r>
            <a:r>
              <a:rPr lang="fr-FR" dirty="0"/>
              <a:t> ipsum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  <a:r>
              <a:rPr lang="fr-FR" b="1" dirty="0"/>
              <a:t> Lorem Ipsum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  <a:r>
              <a:rPr lang="fr-FR" b="1" dirty="0"/>
              <a:t> </a:t>
            </a:r>
            <a:r>
              <a:rPr lang="fr-FR" dirty="0"/>
              <a:t>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6414D91-706E-8302-B9FA-3EB78C802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cap="all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CD156ABB-8819-907F-79AB-C291590AA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5C96347B-7394-3064-9ECD-DDFEB17976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177131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 images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>
            <a:extLst>
              <a:ext uri="{FF2B5EF4-FFF2-40B4-BE49-F238E27FC236}">
                <a16:creationId xmlns:a16="http://schemas.microsoft.com/office/drawing/2014/main" id="{645FBB91-BA75-884F-2D12-81D19933A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84712" y="1177999"/>
            <a:ext cx="7769431" cy="91438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20"/>
              </a:lnSpc>
              <a:defRPr b="1" i="0" spc="-8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MODIFIER LE STYLE DU TITRE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00722E74-9819-EE00-0F4F-B7D4A66A01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712" y="5784996"/>
            <a:ext cx="3001183" cy="200811"/>
          </a:xfrm>
          <a:prstGeom prst="rect">
            <a:avLst/>
          </a:prstGeom>
        </p:spPr>
        <p:txBody>
          <a:bodyPr lIns="0" tIns="0" rIns="0" bIns="0" numCol="1" anchor="t"/>
          <a:lstStyle>
            <a:lvl1pPr algn="ctr">
              <a:lnSpc>
                <a:spcPts val="1440"/>
              </a:lnSpc>
              <a:spcBef>
                <a:spcPts val="0"/>
              </a:spcBef>
              <a:defRPr sz="1400" b="1" i="0" spc="0">
                <a:solidFill>
                  <a:schemeClr val="tx1"/>
                </a:solidFill>
                <a:latin typeface="Arial Black" panose="020B0604020202020204" pitchFamily="34" charset="0"/>
                <a:ea typeface="Verdana" panose="020B060403050404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MOTS CLÉS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04381C2-BC19-E3CB-9BBA-C0B048CC89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60702" y="5784064"/>
            <a:ext cx="3001183" cy="200811"/>
          </a:xfrm>
          <a:prstGeom prst="rect">
            <a:avLst/>
          </a:prstGeom>
        </p:spPr>
        <p:txBody>
          <a:bodyPr lIns="0" tIns="0" rIns="0" bIns="0" numCol="1" anchor="t"/>
          <a:lstStyle>
            <a:lvl1pPr algn="ctr">
              <a:lnSpc>
                <a:spcPts val="1440"/>
              </a:lnSpc>
              <a:spcBef>
                <a:spcPts val="0"/>
              </a:spcBef>
              <a:defRPr sz="1400" b="1" i="0" spc="0">
                <a:solidFill>
                  <a:schemeClr val="tx1"/>
                </a:solidFill>
                <a:latin typeface="Arial Black" panose="020B0604020202020204" pitchFamily="34" charset="0"/>
                <a:ea typeface="Verdana" panose="020B060403050404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MOTS CLÉS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9656E984-C169-520E-6C3E-829085F16B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59544" y="5784064"/>
            <a:ext cx="3000619" cy="200811"/>
          </a:xfrm>
          <a:prstGeom prst="rect">
            <a:avLst/>
          </a:prstGeom>
        </p:spPr>
        <p:txBody>
          <a:bodyPr lIns="0" tIns="0" rIns="0" bIns="0" numCol="1" anchor="t"/>
          <a:lstStyle>
            <a:lvl1pPr algn="ctr">
              <a:lnSpc>
                <a:spcPts val="1440"/>
              </a:lnSpc>
              <a:spcBef>
                <a:spcPts val="0"/>
              </a:spcBef>
              <a:defRPr sz="1400" b="1" i="0" spc="0">
                <a:solidFill>
                  <a:schemeClr val="tx1"/>
                </a:solidFill>
                <a:latin typeface="Arial Black" panose="020B0604020202020204" pitchFamily="34" charset="0"/>
                <a:ea typeface="Verdana" panose="020B060403050404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MOTS CLÉS</a:t>
            </a:r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0F72165D-53C5-4E96-A6A3-4B88060B5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1711AF2B-7C5E-02AB-836E-67C67FFB2F4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4712" y="2504785"/>
            <a:ext cx="3015776" cy="2831010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8" name="Espace réservé du contenu 11">
            <a:extLst>
              <a:ext uri="{FF2B5EF4-FFF2-40B4-BE49-F238E27FC236}">
                <a16:creationId xmlns:a16="http://schemas.microsoft.com/office/drawing/2014/main" id="{95BFDC48-F0CC-A671-FA75-4387011B645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683554" y="2504785"/>
            <a:ext cx="2978331" cy="2831009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0CD2E49F-355D-D37E-108B-FD3BE00F062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458980" y="2504785"/>
            <a:ext cx="2978331" cy="2831008"/>
          </a:xfrm>
          <a:prstGeom prst="rect">
            <a:avLst/>
          </a:prstGeom>
        </p:spPr>
        <p:txBody>
          <a:bodyPr/>
          <a:lstStyle>
            <a:lvl1pPr algn="ctr">
              <a:defRPr b="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 contenu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DFFAF109-5438-1461-EDA4-94B14B1B27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712" y="329210"/>
            <a:ext cx="2564805" cy="1384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900" b="1" i="0" kern="500" cap="all" spc="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1. NOM PARTIE / 1.1 NOM SOUS PARTIE</a:t>
            </a:r>
          </a:p>
        </p:txBody>
      </p:sp>
    </p:spTree>
    <p:extLst>
      <p:ext uri="{BB962C8B-B14F-4D97-AF65-F5344CB8AC3E}">
        <p14:creationId xmlns:p14="http://schemas.microsoft.com/office/powerpoint/2010/main" val="2444311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e la date 11">
            <a:extLst>
              <a:ext uri="{FF2B5EF4-FFF2-40B4-BE49-F238E27FC236}">
                <a16:creationId xmlns:a16="http://schemas.microsoft.com/office/drawing/2014/main" id="{B0BBC6A6-2105-13ED-8EDC-08B7E7EE3CE1}"/>
              </a:ext>
            </a:extLst>
          </p:cNvPr>
          <p:cNvSpPr txBox="1">
            <a:spLocks/>
          </p:cNvSpPr>
          <p:nvPr userDrawn="1"/>
        </p:nvSpPr>
        <p:spPr>
          <a:xfrm>
            <a:off x="7841125" y="63371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900" b="0" i="0" kern="1200" spc="20" baseline="0">
                <a:solidFill>
                  <a:schemeClr val="tx1"/>
                </a:solidFill>
                <a:latin typeface="Review Medium" pitchFamily="2" charset="77"/>
                <a:ea typeface="+mn-ea"/>
                <a:cs typeface="Review Medium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</a:pPr>
            <a: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  <a:t>SIREN : 534 628 318 00030</a:t>
            </a:r>
          </a:p>
          <a:p>
            <a:pPr>
              <a:lnSpc>
                <a:spcPts val="1200"/>
              </a:lnSpc>
            </a:pPr>
            <a: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  <a:t>TVA : FR54 534 628 318</a:t>
            </a:r>
            <a:b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b="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space réservé de la date 11">
            <a:extLst>
              <a:ext uri="{FF2B5EF4-FFF2-40B4-BE49-F238E27FC236}">
                <a16:creationId xmlns:a16="http://schemas.microsoft.com/office/drawing/2014/main" id="{9010F5FF-4E4D-87D8-53D4-12F1A4233DD4}"/>
              </a:ext>
            </a:extLst>
          </p:cNvPr>
          <p:cNvSpPr txBox="1">
            <a:spLocks/>
          </p:cNvSpPr>
          <p:nvPr userDrawn="1"/>
        </p:nvSpPr>
        <p:spPr>
          <a:xfrm>
            <a:off x="4176972" y="6197502"/>
            <a:ext cx="2743200" cy="495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900" b="0" i="0" kern="1200" spc="20" baseline="0">
                <a:solidFill>
                  <a:schemeClr val="tx1"/>
                </a:solidFill>
                <a:latin typeface="Review Medium" pitchFamily="2" charset="77"/>
                <a:ea typeface="+mn-ea"/>
                <a:cs typeface="Review Medium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</a:pPr>
            <a: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  <a:t>+33 (0)1 84 79 97 36</a:t>
            </a:r>
          </a:p>
          <a:p>
            <a:pPr>
              <a:lnSpc>
                <a:spcPts val="1200"/>
              </a:lnSpc>
            </a:pPr>
            <a: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  <a:t>@OTO-TECHNOLOGY</a:t>
            </a:r>
            <a: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  <a:t>.FR</a:t>
            </a:r>
          </a:p>
          <a:p>
            <a:pPr>
              <a:lnSpc>
                <a:spcPts val="1200"/>
              </a:lnSpc>
            </a:pPr>
            <a: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  <a:t>WWW.OTO-TECHNOLOGY.FR</a:t>
            </a:r>
            <a:b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Espace réservé de la date 11">
            <a:extLst>
              <a:ext uri="{FF2B5EF4-FFF2-40B4-BE49-F238E27FC236}">
                <a16:creationId xmlns:a16="http://schemas.microsoft.com/office/drawing/2014/main" id="{4A90961C-F239-BDC8-7833-1068B0323A9F}"/>
              </a:ext>
            </a:extLst>
          </p:cNvPr>
          <p:cNvSpPr txBox="1">
            <a:spLocks/>
          </p:cNvSpPr>
          <p:nvPr userDrawn="1"/>
        </p:nvSpPr>
        <p:spPr>
          <a:xfrm>
            <a:off x="799211" y="6197502"/>
            <a:ext cx="2743200" cy="495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900" b="0" i="0" kern="1200" spc="20" baseline="0">
                <a:solidFill>
                  <a:schemeClr val="tx1"/>
                </a:solidFill>
                <a:latin typeface="Review Medium" pitchFamily="2" charset="77"/>
                <a:ea typeface="+mn-ea"/>
                <a:cs typeface="Review Medium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</a:pPr>
            <a:r>
              <a:rPr lang="fr-FR" b="0" spc="0" dirty="0">
                <a:latin typeface="Arial" panose="020B0604020202020204" pitchFamily="34" charset="0"/>
                <a:cs typeface="Arial" panose="020B0604020202020204" pitchFamily="34" charset="0"/>
              </a:rPr>
              <a:t>79-83 RUE BAUDIN</a:t>
            </a:r>
          </a:p>
          <a:p>
            <a:pPr>
              <a:lnSpc>
                <a:spcPts val="1200"/>
              </a:lnSpc>
            </a:pPr>
            <a: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  <a:t>92300 LEVALLOIS-PERRET</a:t>
            </a:r>
          </a:p>
          <a:p>
            <a:pPr>
              <a:lnSpc>
                <a:spcPts val="1200"/>
              </a:lnSpc>
            </a:pPr>
            <a:r>
              <a:rPr lang="fr-FR" spc="0" dirty="0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  <a:br>
              <a:rPr lang="fr-FR" dirty="0"/>
            </a:b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B95FC0-B9B0-5778-712F-F0A8831A71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4115" y="4648669"/>
            <a:ext cx="7025138" cy="2984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2400" b="1" i="0" cap="all" spc="-100" baseline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5B357821-1072-8995-5911-B613491E50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115" y="5001834"/>
            <a:ext cx="6261465" cy="2984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2400" b="1" i="0" cap="all" spc="-100" baseline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6E3A39E-64E1-E0E7-C150-73D22DD91A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7993" y="2593423"/>
            <a:ext cx="7051260" cy="184025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6000" b="1" i="0" cap="all" spc="-30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NOM DU CLIENT</a:t>
            </a:r>
          </a:p>
        </p:txBody>
      </p:sp>
      <p:pic>
        <p:nvPicPr>
          <p:cNvPr id="3" name="Image 2" descr="Une image contenant logo, symbole, Police, Graphique&#10;&#10;Description générée automatiquement">
            <a:extLst>
              <a:ext uri="{FF2B5EF4-FFF2-40B4-BE49-F238E27FC236}">
                <a16:creationId xmlns:a16="http://schemas.microsoft.com/office/drawing/2014/main" id="{52229519-4BB0-4FCD-D3A0-A0E4D5784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6839" y="6144293"/>
            <a:ext cx="6985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20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3BC74D7-0457-991F-FBF6-00F3C61555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53943" y="2182813"/>
            <a:ext cx="4398282" cy="3352800"/>
          </a:xfrm>
          <a:prstGeom prst="rect">
            <a:avLst/>
          </a:prstGeom>
        </p:spPr>
        <p:txBody>
          <a:bodyPr lIns="0" anchor="ctr" anchorCtr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Clr>
                <a:srgbClr val="2072FF"/>
              </a:buClr>
              <a:buFont typeface="+mj-lt"/>
              <a:buAutoNum type="arabicPeriod"/>
              <a:defRPr sz="1900" b="1" i="0" cap="all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5456879-E956-540E-897E-4AAD9EB08814}"/>
              </a:ext>
            </a:extLst>
          </p:cNvPr>
          <p:cNvSpPr txBox="1"/>
          <p:nvPr userDrawn="1"/>
        </p:nvSpPr>
        <p:spPr>
          <a:xfrm>
            <a:off x="864967" y="1426017"/>
            <a:ext cx="5194738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6400" b="1" i="0" cap="all" spc="-150" baseline="0" dirty="0">
                <a:latin typeface="Arial Black" panose="020B0604020202020204" pitchFamily="34" charset="0"/>
                <a:cs typeface="Arial Black" panose="020B0604020202020204" pitchFamily="34" charset="0"/>
              </a:rPr>
              <a:t>SOMMAIRE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2714E5B-B3E5-8868-33B3-A7F1FEC8C0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5858" y="2477096"/>
            <a:ext cx="5956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0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0DF382-68D0-086E-344B-8E7A3934A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76" y="4841542"/>
            <a:ext cx="5268874" cy="128266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300"/>
              </a:lnSpc>
              <a:defRPr sz="4000" b="1" i="0" cap="all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3BC74D7-0457-991F-FBF6-00F3C61555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5841" y="1191129"/>
            <a:ext cx="4406383" cy="4166886"/>
          </a:xfrm>
          <a:prstGeom prst="rect">
            <a:avLst/>
          </a:prstGeom>
        </p:spPr>
        <p:txBody>
          <a:bodyPr lIns="0" anchor="b" anchorCtr="0"/>
          <a:lstStyle>
            <a:lvl1pPr marL="457200" indent="-457200">
              <a:lnSpc>
                <a:spcPts val="2280"/>
              </a:lnSpc>
              <a:spcBef>
                <a:spcPts val="0"/>
              </a:spcBef>
              <a:buClr>
                <a:srgbClr val="2072FF"/>
              </a:buClr>
              <a:buFont typeface="+mj-lt"/>
              <a:buAutoNum type="arabicPeriod"/>
              <a:defRPr sz="1900" b="1" i="0" cap="all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8009DC7-C83C-EE5B-7831-44FF9B810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64" y="293516"/>
            <a:ext cx="5956300" cy="5715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F14912F-0676-C339-7052-94FF14449C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9675" y="3680748"/>
            <a:ext cx="3534669" cy="1098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i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  <a:lvl3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3pPr>
            <a:lvl4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4pPr>
            <a:lvl5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5pPr>
          </a:lstStyle>
          <a:p>
            <a:pPr lvl="0"/>
            <a:r>
              <a:rPr lang="fr-FR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22885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 sous-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F8AC2C06-AB24-102E-39A0-B0339379B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76" y="4841542"/>
            <a:ext cx="5268874" cy="128266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300"/>
              </a:lnSpc>
              <a:defRPr sz="4000" b="1" i="0" cap="all" baseline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28886BD4-ABB7-9A40-80A9-58687D885E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9675" y="3680748"/>
            <a:ext cx="3534669" cy="1098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i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  <a:lvl3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3pPr>
            <a:lvl4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4pPr>
            <a:lvl5pPr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5pPr>
          </a:lstStyle>
          <a:p>
            <a:pPr lvl="0"/>
            <a:r>
              <a:rPr lang="fr-FR" dirty="0"/>
              <a:t>1.1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5D9F9C-B311-92F3-BC96-AD388E1F88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64" y="293516"/>
            <a:ext cx="5956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9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ge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D980CCED-75D4-7A01-9CE4-4A01B4BFF41F}"/>
              </a:ext>
            </a:extLst>
          </p:cNvPr>
          <p:cNvSpPr txBox="1"/>
          <p:nvPr userDrawn="1"/>
        </p:nvSpPr>
        <p:spPr>
          <a:xfrm>
            <a:off x="878672" y="4683938"/>
            <a:ext cx="187581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1100" b="1" i="0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SAN FRANCISCO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1648 NORTH MAIN STREET,</a:t>
            </a:r>
            <a:b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CA 94596, WALNUT CREEK, </a:t>
            </a:r>
            <a:b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USA</a:t>
            </a:r>
          </a:p>
          <a:p>
            <a:pPr lvl="0"/>
            <a:endParaRPr lang="fr-FR" sz="1100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 err="1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hello@oto-technology.com</a:t>
            </a:r>
            <a:b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+1 484 848 3073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BE9C7C9-35BA-4E12-6108-69E2830292F3}"/>
              </a:ext>
            </a:extLst>
          </p:cNvPr>
          <p:cNvSpPr txBox="1"/>
          <p:nvPr userDrawn="1"/>
        </p:nvSpPr>
        <p:spPr>
          <a:xfrm>
            <a:off x="3837813" y="4683938"/>
            <a:ext cx="1875818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1100" b="1" i="0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PARIS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70-83 RUE BAUDIN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92300 LEVALLOIS-PERRET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</a:p>
          <a:p>
            <a:pPr lvl="0"/>
            <a:endParaRPr lang="fr-FR" sz="1100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hello@oto-technology.fr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+33(0) 1 84 79 97 36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E455738-02E7-B2D0-6390-E954901BCD43}"/>
              </a:ext>
            </a:extLst>
          </p:cNvPr>
          <p:cNvSpPr txBox="1"/>
          <p:nvPr userDrawn="1"/>
        </p:nvSpPr>
        <p:spPr>
          <a:xfrm>
            <a:off x="6796955" y="4683938"/>
            <a:ext cx="1592595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lnSpc>
                <a:spcPts val="1330"/>
              </a:lnSpc>
            </a:pPr>
            <a:r>
              <a:rPr lang="fr-FR" sz="1100" b="1" i="0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LYON</a:t>
            </a:r>
          </a:p>
          <a:p>
            <a:pPr lvl="0">
              <a:lnSpc>
                <a:spcPts val="1330"/>
              </a:lnSpc>
            </a:pPr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35 RUE DE MARSEILLE,</a:t>
            </a:r>
          </a:p>
          <a:p>
            <a:pPr lvl="0">
              <a:lnSpc>
                <a:spcPts val="1330"/>
              </a:lnSpc>
            </a:pPr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69007 LYON,</a:t>
            </a:r>
          </a:p>
          <a:p>
            <a:pPr lvl="0">
              <a:lnSpc>
                <a:spcPts val="1330"/>
              </a:lnSpc>
            </a:pPr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</a:p>
          <a:p>
            <a:pPr lvl="0">
              <a:lnSpc>
                <a:spcPts val="1330"/>
              </a:lnSpc>
            </a:pPr>
            <a:endParaRPr lang="fr-FR" sz="1100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hello@oto-technology.fr</a:t>
            </a:r>
            <a:b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+33(0) 4 78 35 26 71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FCFC72-C971-0A3D-8C5E-D58C875A4F94}"/>
              </a:ext>
            </a:extLst>
          </p:cNvPr>
          <p:cNvSpPr txBox="1"/>
          <p:nvPr userDrawn="1"/>
        </p:nvSpPr>
        <p:spPr>
          <a:xfrm>
            <a:off x="9412071" y="4683938"/>
            <a:ext cx="2023573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1100" b="1" i="0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TOKYO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1-13-5 HIGASHIAZABU</a:t>
            </a:r>
          </a:p>
          <a:p>
            <a:pPr lvl="0"/>
            <a:r>
              <a:rPr lang="fr-FR" sz="1100" b="0" i="0" dirty="0">
                <a:latin typeface="Arial" panose="020B0604020202020204" pitchFamily="34" charset="0"/>
                <a:cs typeface="Arial" panose="020B0604020202020204" pitchFamily="34" charset="0"/>
              </a:rPr>
              <a:t>106-0044 MINATO-KU, TOKYO, JAPAN</a:t>
            </a:r>
          </a:p>
          <a:p>
            <a:pPr lvl="0"/>
            <a:endParaRPr lang="fr-FR" sz="1100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hello@oto-technology.jp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0" i="0" dirty="0">
                <a:solidFill>
                  <a:srgbClr val="207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+81-3-4580-7587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0E496FB-0B5F-9BB4-34D7-4AFA532A867C}"/>
              </a:ext>
            </a:extLst>
          </p:cNvPr>
          <p:cNvSpPr txBox="1"/>
          <p:nvPr userDrawn="1"/>
        </p:nvSpPr>
        <p:spPr>
          <a:xfrm>
            <a:off x="850390" y="2734325"/>
            <a:ext cx="5194738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6400" b="1" i="0" cap="all" spc="-150" baseline="0" dirty="0">
                <a:latin typeface="Arial Black" panose="020B0604020202020204" pitchFamily="34" charset="0"/>
                <a:cs typeface="Arial Black" panose="020B0604020202020204" pitchFamily="34" charset="0"/>
              </a:rPr>
              <a:t>CONTACT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BFD8E97-8C43-B794-04C4-B31B77BAEC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64" y="293516"/>
            <a:ext cx="5956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21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ge citation pe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44E8BA-FDBC-833E-D558-A5E87E56FB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92597" y="-185195"/>
            <a:ext cx="12373336" cy="7211028"/>
          </a:xfrm>
          <a:prstGeom prst="rect">
            <a:avLst/>
          </a:prstGeom>
          <a:solidFill>
            <a:srgbClr val="207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399B8B-7A0C-EF86-80C3-00DCCE497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651" y="739806"/>
            <a:ext cx="6136104" cy="3495596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600"/>
              </a:lnSpc>
              <a:defRPr sz="3300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insérer une citation</a:t>
            </a:r>
          </a:p>
        </p:txBody>
      </p:sp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431BF558-9B5D-8219-4003-55D7A3F52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7626" y="6113594"/>
            <a:ext cx="2882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1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44E8BA-FDBC-833E-D558-A5E87E56FB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92597" y="-185195"/>
            <a:ext cx="12373336" cy="7211028"/>
          </a:xfrm>
          <a:prstGeom prst="rect">
            <a:avLst/>
          </a:prstGeom>
          <a:solidFill>
            <a:srgbClr val="207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431BF558-9B5D-8219-4003-55D7A3F52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7626" y="6113594"/>
            <a:ext cx="2882900" cy="4572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83A7C46-178B-6FAD-AD0F-64F2D763DE5F}"/>
              </a:ext>
            </a:extLst>
          </p:cNvPr>
          <p:cNvSpPr txBox="1"/>
          <p:nvPr userDrawn="1"/>
        </p:nvSpPr>
        <p:spPr>
          <a:xfrm>
            <a:off x="656296" y="697602"/>
            <a:ext cx="59506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fr-FR" sz="3300" b="1" i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NOUS REPENSONS </a:t>
            </a:r>
            <a:br>
              <a:rPr lang="fr-FR" sz="3300" b="1" i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fr-FR" sz="3300" b="1" i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LA NOTION DE SERVICE DANS LE SECTEUR TECHNOLOGIQUE</a:t>
            </a:r>
          </a:p>
        </p:txBody>
      </p:sp>
    </p:spTree>
    <p:extLst>
      <p:ext uri="{BB962C8B-B14F-4D97-AF65-F5344CB8AC3E}">
        <p14:creationId xmlns:p14="http://schemas.microsoft.com/office/powerpoint/2010/main" val="3711887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ag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44E8BA-FDBC-833E-D558-A5E87E56FB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92597" y="-185195"/>
            <a:ext cx="12373336" cy="7211028"/>
          </a:xfrm>
          <a:prstGeom prst="rect">
            <a:avLst/>
          </a:prstGeom>
          <a:solidFill>
            <a:srgbClr val="207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399B8B-7A0C-EF86-80C3-00DCCE497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90668" y="3052823"/>
            <a:ext cx="12373336" cy="752355"/>
          </a:xfrm>
          <a:prstGeom prst="rect">
            <a:avLst/>
          </a:prstGeom>
        </p:spPr>
        <p:txBody>
          <a:bodyPr/>
          <a:lstStyle>
            <a:lvl1pPr algn="ctr">
              <a:defRPr sz="6400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FIN</a:t>
            </a:r>
          </a:p>
        </p:txBody>
      </p:sp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2E75611F-4EFB-7644-21D1-D46BA16C55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52621" y="6121398"/>
            <a:ext cx="2882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7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A00BD9AC-E268-B085-2D6B-5FB10EBF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75950" y="294845"/>
            <a:ext cx="676659" cy="194541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043217B-D61A-1BF9-73B7-270C0EE99AE7}"/>
              </a:ext>
            </a:extLst>
          </p:cNvPr>
          <p:cNvCxnSpPr>
            <a:cxnSpLocks/>
          </p:cNvCxnSpPr>
          <p:nvPr userDrawn="1"/>
        </p:nvCxnSpPr>
        <p:spPr>
          <a:xfrm>
            <a:off x="735980" y="2948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F0255E-CC36-1DA0-2560-2FF86CC2BAB2}"/>
              </a:ext>
            </a:extLst>
          </p:cNvPr>
          <p:cNvCxnSpPr>
            <a:cxnSpLocks/>
          </p:cNvCxnSpPr>
          <p:nvPr userDrawn="1"/>
        </p:nvCxnSpPr>
        <p:spPr>
          <a:xfrm>
            <a:off x="735980" y="4853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709D219C-AEF0-6075-8FEB-8299C44E808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5979" y="6385806"/>
            <a:ext cx="10716629" cy="215600"/>
          </a:xfrm>
          <a:prstGeom prst="rect">
            <a:avLst/>
          </a:prstGeom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A4B526BC-24A5-0F75-9D71-1DDF73D02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29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0" spc="60" baseline="0">
          <a:solidFill>
            <a:schemeClr val="tx1"/>
          </a:solidFill>
          <a:latin typeface="Review Heavy" pitchFamily="2" charset="77"/>
          <a:ea typeface="+mj-ea"/>
          <a:cs typeface="Review Heavy" pitchFamily="2" charset="77"/>
        </a:defRPr>
      </a:lvl1pPr>
    </p:titleStyle>
    <p:bodyStyle>
      <a:lvl1pPr marL="0" indent="0" algn="l" defTabSz="914400" rtl="0" eaLnBrk="1" latinLnBrk="0" hangingPunct="1">
        <a:lnSpc>
          <a:spcPts val="1920"/>
        </a:lnSpc>
        <a:spcBef>
          <a:spcPts val="1000"/>
        </a:spcBef>
        <a:buFont typeface="Arial" panose="020B0604020202020204" pitchFamily="34" charset="0"/>
        <a:buNone/>
        <a:defRPr sz="1600" b="1" i="0" kern="1200" spc="30" baseline="0">
          <a:solidFill>
            <a:schemeClr val="tx1"/>
          </a:solidFill>
          <a:latin typeface="Review Heavy" pitchFamily="2" charset="77"/>
          <a:ea typeface="+mn-ea"/>
          <a:cs typeface="Review Heavy" pitchFamily="2" charset="77"/>
        </a:defRPr>
      </a:lvl1pPr>
      <a:lvl2pPr marL="457200" indent="0" algn="l" defTabSz="914400" rtl="0" eaLnBrk="1" latinLnBrk="0" hangingPunct="1">
        <a:lnSpc>
          <a:spcPts val="192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2072FF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828800" indent="0" algn="l" defTabSz="914400" rtl="0" eaLnBrk="1" latinLnBrk="0" hangingPunct="1">
        <a:lnSpc>
          <a:spcPts val="144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orient="horz" pos="1570" userDrawn="1">
          <p15:clr>
            <a:srgbClr val="F26B43"/>
          </p15:clr>
        </p15:guide>
        <p15:guide id="3" pos="551" userDrawn="1">
          <p15:clr>
            <a:srgbClr val="F26B43"/>
          </p15:clr>
        </p15:guide>
        <p15:guide id="7" orient="horz" pos="731" userDrawn="1">
          <p15:clr>
            <a:srgbClr val="F26B43"/>
          </p15:clr>
        </p15:guide>
        <p15:guide id="8" pos="4974" userDrawn="1">
          <p15:clr>
            <a:srgbClr val="F26B43"/>
          </p15:clr>
        </p15:guide>
        <p15:guide id="9" pos="721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A00BD9AC-E268-B085-2D6B-5FB10EBF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75950" y="294845"/>
            <a:ext cx="676659" cy="194541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043217B-D61A-1BF9-73B7-270C0EE99AE7}"/>
              </a:ext>
            </a:extLst>
          </p:cNvPr>
          <p:cNvCxnSpPr>
            <a:cxnSpLocks/>
          </p:cNvCxnSpPr>
          <p:nvPr userDrawn="1"/>
        </p:nvCxnSpPr>
        <p:spPr>
          <a:xfrm>
            <a:off x="735980" y="2948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CF0255E-CC36-1DA0-2560-2FF86CC2BAB2}"/>
              </a:ext>
            </a:extLst>
          </p:cNvPr>
          <p:cNvCxnSpPr>
            <a:cxnSpLocks/>
          </p:cNvCxnSpPr>
          <p:nvPr userDrawn="1"/>
        </p:nvCxnSpPr>
        <p:spPr>
          <a:xfrm>
            <a:off x="735980" y="4853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88865ACD-4F62-CF87-8CF5-E991302157C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5979" y="6385806"/>
            <a:ext cx="10716629" cy="215600"/>
          </a:xfrm>
          <a:prstGeom prst="rect">
            <a:avLst/>
          </a:prstGeom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9EAE591E-F3CF-81A2-ED6C-60BA0288D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127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0" spc="60" baseline="0">
          <a:solidFill>
            <a:schemeClr val="tx1"/>
          </a:solidFill>
          <a:latin typeface="Review Heavy" pitchFamily="2" charset="77"/>
          <a:ea typeface="+mj-ea"/>
          <a:cs typeface="Review Heavy" pitchFamily="2" charset="77"/>
        </a:defRPr>
      </a:lvl1pPr>
    </p:titleStyle>
    <p:bodyStyle>
      <a:lvl1pPr marL="0" indent="0" algn="l" defTabSz="914400" rtl="0" eaLnBrk="1" latinLnBrk="0" hangingPunct="1">
        <a:lnSpc>
          <a:spcPts val="1920"/>
        </a:lnSpc>
        <a:spcBef>
          <a:spcPts val="1000"/>
        </a:spcBef>
        <a:buFont typeface="Arial" panose="020B0604020202020204" pitchFamily="34" charset="0"/>
        <a:buNone/>
        <a:defRPr sz="1600" b="1" i="0" kern="1200" spc="30" baseline="0">
          <a:solidFill>
            <a:schemeClr val="tx1"/>
          </a:solidFill>
          <a:latin typeface="Review Heavy" pitchFamily="2" charset="77"/>
          <a:ea typeface="+mn-ea"/>
          <a:cs typeface="Review Heavy" pitchFamily="2" charset="77"/>
        </a:defRPr>
      </a:lvl1pPr>
      <a:lvl2pPr marL="457200" indent="0" algn="l" defTabSz="914400" rtl="0" eaLnBrk="1" latinLnBrk="0" hangingPunct="1">
        <a:lnSpc>
          <a:spcPts val="192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2072FF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828800" indent="0" algn="l" defTabSz="914400" rtl="0" eaLnBrk="1" latinLnBrk="0" hangingPunct="1">
        <a:lnSpc>
          <a:spcPts val="144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orient="horz" pos="1570" userDrawn="1">
          <p15:clr>
            <a:srgbClr val="F26B43"/>
          </p15:clr>
        </p15:guide>
        <p15:guide id="3" pos="551" userDrawn="1">
          <p15:clr>
            <a:srgbClr val="F26B43"/>
          </p15:clr>
        </p15:guide>
        <p15:guide id="5" pos="3228" userDrawn="1">
          <p15:clr>
            <a:srgbClr val="F26B43"/>
          </p15:clr>
        </p15:guide>
        <p15:guide id="7" orient="horz" pos="731" userDrawn="1">
          <p15:clr>
            <a:srgbClr val="F26B43"/>
          </p15:clr>
        </p15:guide>
        <p15:guide id="8" pos="3885" userDrawn="1">
          <p15:clr>
            <a:srgbClr val="F26B43"/>
          </p15:clr>
        </p15:guide>
        <p15:guide id="9" pos="656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A2B853C-8DD7-5EEF-1A9E-C392B8904DA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75950" y="294845"/>
            <a:ext cx="676659" cy="194541"/>
          </a:xfrm>
          <a:prstGeom prst="rect">
            <a:avLst/>
          </a:prstGeom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553FE82-B336-5B09-016D-FCCFE6D98A4F}"/>
              </a:ext>
            </a:extLst>
          </p:cNvPr>
          <p:cNvCxnSpPr>
            <a:cxnSpLocks/>
          </p:cNvCxnSpPr>
          <p:nvPr userDrawn="1"/>
        </p:nvCxnSpPr>
        <p:spPr>
          <a:xfrm>
            <a:off x="735980" y="2948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2F6BA9-08B1-ADAA-D47D-5A0A4CEB6B13}"/>
              </a:ext>
            </a:extLst>
          </p:cNvPr>
          <p:cNvCxnSpPr>
            <a:cxnSpLocks/>
          </p:cNvCxnSpPr>
          <p:nvPr userDrawn="1"/>
        </p:nvCxnSpPr>
        <p:spPr>
          <a:xfrm>
            <a:off x="735980" y="485346"/>
            <a:ext cx="9911505" cy="0"/>
          </a:xfrm>
          <a:prstGeom prst="line">
            <a:avLst/>
          </a:prstGeom>
          <a:ln w="12700">
            <a:solidFill>
              <a:srgbClr val="2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1C18B6F8-CD90-669D-B9F8-B539BE51E1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5979" y="6385806"/>
            <a:ext cx="10716629" cy="215600"/>
          </a:xfrm>
          <a:prstGeom prst="rect">
            <a:avLst/>
          </a:prstGeom>
        </p:spPr>
      </p:pic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A3947B5A-9E99-EBB9-503F-A5FAEC69B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492" y="6418303"/>
            <a:ext cx="870095" cy="149124"/>
          </a:xfrm>
          <a:prstGeom prst="rect">
            <a:avLst/>
          </a:prstGeom>
        </p:spPr>
        <p:txBody>
          <a:bodyPr anchor="ctr" anchorCtr="0"/>
          <a:lstStyle>
            <a:lvl1pPr algn="l">
              <a:defRPr sz="900" b="1" i="0" spc="200" baseline="0">
                <a:solidFill>
                  <a:schemeClr val="bg1"/>
                </a:solidFill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‹N°›</a:t>
            </a:fld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090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0" spc="60" baseline="0">
          <a:solidFill>
            <a:schemeClr val="tx1"/>
          </a:solidFill>
          <a:latin typeface="Review Heavy" pitchFamily="2" charset="77"/>
          <a:ea typeface="+mj-ea"/>
          <a:cs typeface="Review Heavy" pitchFamily="2" charset="77"/>
        </a:defRPr>
      </a:lvl1pPr>
    </p:titleStyle>
    <p:bodyStyle>
      <a:lvl1pPr marL="0" indent="0" algn="l" defTabSz="914400" rtl="0" eaLnBrk="1" latinLnBrk="0" hangingPunct="1">
        <a:lnSpc>
          <a:spcPts val="1920"/>
        </a:lnSpc>
        <a:spcBef>
          <a:spcPts val="1000"/>
        </a:spcBef>
        <a:buFont typeface="Arial" panose="020B0604020202020204" pitchFamily="34" charset="0"/>
        <a:buNone/>
        <a:defRPr sz="1600" b="1" i="0" kern="1200" spc="30" baseline="0">
          <a:solidFill>
            <a:schemeClr val="tx1"/>
          </a:solidFill>
          <a:latin typeface="Review Heavy" pitchFamily="2" charset="77"/>
          <a:ea typeface="+mn-ea"/>
          <a:cs typeface="Review Heavy" pitchFamily="2" charset="77"/>
        </a:defRPr>
      </a:lvl1pPr>
      <a:lvl2pPr marL="457200" indent="0" algn="l" defTabSz="914400" rtl="0" eaLnBrk="1" latinLnBrk="0" hangingPunct="1">
        <a:lnSpc>
          <a:spcPts val="192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2072FF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828800" indent="0" algn="l" defTabSz="914400" rtl="0" eaLnBrk="1" latinLnBrk="0" hangingPunct="1">
        <a:lnSpc>
          <a:spcPts val="144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orient="horz" pos="1570" userDrawn="1">
          <p15:clr>
            <a:srgbClr val="F26B43"/>
          </p15:clr>
        </p15:guide>
        <p15:guide id="3" pos="551" userDrawn="1">
          <p15:clr>
            <a:srgbClr val="F26B43"/>
          </p15:clr>
        </p15:guide>
        <p15:guide id="4" pos="2457" userDrawn="1">
          <p15:clr>
            <a:srgbClr val="F26B43"/>
          </p15:clr>
        </p15:guide>
        <p15:guide id="5" pos="4838" userDrawn="1">
          <p15:clr>
            <a:srgbClr val="F26B43"/>
          </p15:clr>
        </p15:guide>
        <p15:guide id="6" pos="7219" userDrawn="1">
          <p15:clr>
            <a:srgbClr val="F26B43"/>
          </p15:clr>
        </p15:guide>
        <p15:guide id="7" pos="2933" userDrawn="1">
          <p15:clr>
            <a:srgbClr val="F26B43"/>
          </p15:clr>
        </p15:guide>
        <p15:guide id="8" pos="5314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blanc, conception&#10;&#10;Description générée automatiquement">
            <a:extLst>
              <a:ext uri="{FF2B5EF4-FFF2-40B4-BE49-F238E27FC236}">
                <a16:creationId xmlns:a16="http://schemas.microsoft.com/office/drawing/2014/main" id="{0FB806A3-4648-BADA-B4E8-2334165388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D2C966A-15D0-A713-284B-31FC349BF0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420609" y="294846"/>
            <a:ext cx="2032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9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97" r:id="rId4"/>
    <p:sldLayoutId id="2147483693" r:id="rId5"/>
    <p:sldLayoutId id="2147483696" r:id="rId6"/>
    <p:sldLayoutId id="2147483698" r:id="rId7"/>
    <p:sldLayoutId id="214748369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34D667-6DEA-E837-0F70-ADD978103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9D6426-F464-24F2-4345-AD7AA9DAB4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23/03/35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1E6870-C5CC-EF4C-6452-49FE86C1E8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7992" y="2593423"/>
            <a:ext cx="10484921" cy="1840254"/>
          </a:xfrm>
        </p:spPr>
        <p:txBody>
          <a:bodyPr/>
          <a:lstStyle/>
          <a:p>
            <a:r>
              <a:rPr lang="fr-FR" dirty="0"/>
              <a:t>NOM DU CLIENT</a:t>
            </a:r>
          </a:p>
        </p:txBody>
      </p:sp>
    </p:spTree>
    <p:extLst>
      <p:ext uri="{BB962C8B-B14F-4D97-AF65-F5344CB8AC3E}">
        <p14:creationId xmlns:p14="http://schemas.microsoft.com/office/powerpoint/2010/main" val="3932212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4080FEB-1F7E-BD55-3AD9-33AC22706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r>
              <a:rPr lang="fr-FR" dirty="0"/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331955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61AB82A-B7F8-CC9A-E333-1C89F5FC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6FB329-A640-CA65-2FFE-761CB9BBC37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7165C5-2F92-8170-4D72-675639602C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90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0D931-DF8F-DC73-0A71-7323FED7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TABLEAU 1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C65637A1-F815-CA73-7901-C1C7942BB71B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362AAC-1BD4-E5C9-BB7B-4993D8BA7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4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5336BE6-7749-100E-B144-0AC2137371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0E6AC75-A1DC-6523-6F47-61C80D92D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049526"/>
              </p:ext>
            </p:extLst>
          </p:nvPr>
        </p:nvGraphicFramePr>
        <p:xfrm>
          <a:off x="884712" y="2492375"/>
          <a:ext cx="10575453" cy="349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779">
                  <a:extLst>
                    <a:ext uri="{9D8B030D-6E8A-4147-A177-3AD203B41FA5}">
                      <a16:colId xmlns:a16="http://schemas.microsoft.com/office/drawing/2014/main" val="1237310830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94276046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2044249751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646072055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2176614516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1025146000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1248208579"/>
                    </a:ext>
                  </a:extLst>
                </a:gridCol>
              </a:tblGrid>
              <a:tr h="498929">
                <a:tc>
                  <a:txBody>
                    <a:bodyPr/>
                    <a:lstStyle/>
                    <a:p>
                      <a:pPr algn="ctr"/>
                      <a:endParaRPr lang="fr-FR" sz="1200" b="1" i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CHEF DE PROJET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DÉVELOPPEUR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MARKET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FORMATION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VENTE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194226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#1 Expression de besoin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925829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#2 Définition du cahier des charges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487744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#3 Développement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686409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#4 Réception de l’application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89505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#5 Formation des utilisateurs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135488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#6 Mise en production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7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87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47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A4235-B7C1-0BBA-222A-4E2171BC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TABLEAU 2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05506A0-6AFE-7F8A-18F3-B78D0268597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41A69F-E226-7286-9A71-304059342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5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EAFF93A-2B2D-CC7E-1A82-8C065B5C77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B96C331-B1E3-8149-CF38-8E46FC7C3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014855"/>
              </p:ext>
            </p:extLst>
          </p:nvPr>
        </p:nvGraphicFramePr>
        <p:xfrm>
          <a:off x="884712" y="2492375"/>
          <a:ext cx="10575453" cy="349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779">
                  <a:extLst>
                    <a:ext uri="{9D8B030D-6E8A-4147-A177-3AD203B41FA5}">
                      <a16:colId xmlns:a16="http://schemas.microsoft.com/office/drawing/2014/main" val="1237310830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94276046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2044249751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646072055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2176614516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1025146000"/>
                    </a:ext>
                  </a:extLst>
                </a:gridCol>
                <a:gridCol w="1510779">
                  <a:extLst>
                    <a:ext uri="{9D8B030D-6E8A-4147-A177-3AD203B41FA5}">
                      <a16:colId xmlns:a16="http://schemas.microsoft.com/office/drawing/2014/main" val="1248208579"/>
                    </a:ext>
                  </a:extLst>
                </a:gridCol>
              </a:tblGrid>
              <a:tr h="498929">
                <a:tc>
                  <a:txBody>
                    <a:bodyPr/>
                    <a:lstStyle/>
                    <a:p>
                      <a:pPr algn="ctr"/>
                      <a:endParaRPr lang="fr-FR" sz="1200" b="1" i="0" dirty="0">
                        <a:solidFill>
                          <a:schemeClr val="tx1"/>
                        </a:solidFill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CHEF DE PROJET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DÉVELOPPEUR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MARKET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i="0" dirty="0">
                          <a:solidFill>
                            <a:srgbClr val="2072FF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VENTE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194226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#1 Expression de besoin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925829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#2 Définition du cahier des charges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487744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#3 Développement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686409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#4 Réception de l’application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89505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#5 Formation des utilisateurs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135488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#6 Mise en production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87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1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BD6C7-EEDC-4F44-282B-1EB57E71055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Budget</a:t>
            </a:r>
            <a:br>
              <a:rPr lang="fr-FR" dirty="0"/>
            </a:br>
            <a:r>
              <a:rPr lang="fr-FR" dirty="0"/>
              <a:t>planning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2F22AED-E043-67F3-573C-CDB3CA773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r>
              <a:rPr lang="fr-FR" dirty="0"/>
              <a:t>EXEMPLE</a:t>
            </a:r>
          </a:p>
          <a:p>
            <a:r>
              <a:rPr lang="fr-FR" dirty="0"/>
              <a:t>EXEMPLE</a:t>
            </a:r>
          </a:p>
          <a:p>
            <a:r>
              <a:rPr lang="fr-FR" dirty="0"/>
              <a:t>EXEMPLE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70B43E-AD55-BC51-ED09-0F826F430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86482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29C3B-E372-D12B-697E-EFDB534C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Budget</a:t>
            </a:r>
            <a:br>
              <a:rPr lang="fr-FR" dirty="0"/>
            </a:br>
            <a:r>
              <a:rPr lang="fr-FR" dirty="0"/>
              <a:t>planning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C11D5D-85F6-E861-E7A9-7DBC05579F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96032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674DBFF-0ED3-8030-79A9-2792716144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FR" sz="1400" dirty="0">
                <a:solidFill>
                  <a:srgbClr val="2072FF"/>
                </a:solidFill>
              </a:rPr>
              <a:t>Écoute, simplicité, performance et engagement sur mesure </a:t>
            </a:r>
            <a:br>
              <a:rPr lang="fr-FR" sz="1400" dirty="0">
                <a:solidFill>
                  <a:srgbClr val="2072FF"/>
                </a:solidFill>
              </a:rPr>
            </a:br>
            <a:r>
              <a:rPr lang="fr-FR" sz="1400" dirty="0">
                <a:solidFill>
                  <a:srgbClr val="2072FF"/>
                </a:solidFill>
              </a:rPr>
              <a:t>pour sécuriser les activités technologiques de votre entreprise.</a:t>
            </a:r>
          </a:p>
          <a:p>
            <a:endParaRPr lang="fr-FR" dirty="0"/>
          </a:p>
          <a:p>
            <a:r>
              <a:rPr lang="fr-FR" kern="0" dirty="0"/>
              <a:t>IT – DIGITAL – TECHNOLOGIES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sz="1400" b="1" dirty="0">
                <a:latin typeface="Arial Black" panose="020B0604020202020204" pitchFamily="34" charset="0"/>
                <a:cs typeface="Arial Black" panose="020B0604020202020204" pitchFamily="34" charset="0"/>
              </a:rPr>
              <a:t>CHIFFRES CLÉS</a:t>
            </a:r>
          </a:p>
          <a:p>
            <a:r>
              <a:rPr lang="fr-FR" b="1" dirty="0"/>
              <a:t> </a:t>
            </a:r>
          </a:p>
          <a:p>
            <a:r>
              <a:rPr lang="fr-FR" b="1" dirty="0">
                <a:solidFill>
                  <a:srgbClr val="2072FF"/>
                </a:solidFill>
              </a:rPr>
              <a:t>13 </a:t>
            </a:r>
            <a:r>
              <a:rPr lang="fr-FR" dirty="0"/>
              <a:t>ans d’expérience </a:t>
            </a:r>
          </a:p>
          <a:p>
            <a:r>
              <a:rPr lang="fr-FR" b="1" dirty="0">
                <a:solidFill>
                  <a:srgbClr val="2072FF"/>
                </a:solidFill>
              </a:rPr>
              <a:t>49 </a:t>
            </a:r>
            <a:r>
              <a:rPr lang="fr-FR" dirty="0" err="1"/>
              <a:t>collaborateur·rice·s</a:t>
            </a:r>
            <a:r>
              <a:rPr lang="fr-FR" dirty="0"/>
              <a:t> – </a:t>
            </a:r>
            <a:r>
              <a:rPr lang="fr-FR" b="1" dirty="0">
                <a:solidFill>
                  <a:srgbClr val="2072FF"/>
                </a:solidFill>
              </a:rPr>
              <a:t>48%</a:t>
            </a:r>
            <a:r>
              <a:rPr lang="fr-FR" dirty="0"/>
              <a:t> de femmes </a:t>
            </a:r>
          </a:p>
          <a:p>
            <a:r>
              <a:rPr lang="fr-FR" b="1" dirty="0">
                <a:solidFill>
                  <a:srgbClr val="2072FF"/>
                </a:solidFill>
              </a:rPr>
              <a:t>4</a:t>
            </a:r>
            <a:r>
              <a:rPr lang="fr-FR" dirty="0"/>
              <a:t> bureaux – </a:t>
            </a:r>
            <a:r>
              <a:rPr lang="fr-FR" dirty="0">
                <a:solidFill>
                  <a:srgbClr val="2072FF"/>
                </a:solidFill>
              </a:rPr>
              <a:t>Paris, Lyon, Tokyo, San Francisco</a:t>
            </a:r>
          </a:p>
          <a:p>
            <a:r>
              <a:rPr lang="fr-FR" b="1" dirty="0">
                <a:solidFill>
                  <a:srgbClr val="2072FF"/>
                </a:solidFill>
              </a:rPr>
              <a:t>45 </a:t>
            </a:r>
            <a:r>
              <a:rPr lang="fr-FR" dirty="0"/>
              <a:t>projets en 2024</a:t>
            </a:r>
          </a:p>
          <a:p>
            <a:r>
              <a:rPr lang="fr-FR" b="1" dirty="0">
                <a:solidFill>
                  <a:srgbClr val="2072FF"/>
                </a:solidFill>
              </a:rPr>
              <a:t>98 % </a:t>
            </a:r>
            <a:r>
              <a:rPr lang="fr-FR" dirty="0"/>
              <a:t>de client satisfait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EB1EFFF-42A5-A049-B2AF-828817F6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NOUS REPENSONS LA NOTION DE SERVICE DANS LE secteur technologique</a:t>
            </a:r>
          </a:p>
        </p:txBody>
      </p:sp>
      <p:pic>
        <p:nvPicPr>
          <p:cNvPr id="7" name="Espace réservé du contenu 6" descr="Une image contenant bleu, carré, Rectangle, Bleu électrique&#10;&#10;Description générée automatiquement">
            <a:extLst>
              <a:ext uri="{FF2B5EF4-FFF2-40B4-BE49-F238E27FC236}">
                <a16:creationId xmlns:a16="http://schemas.microsoft.com/office/drawing/2014/main" id="{7123930A-A329-4C26-A2D6-8FA225A386BF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/>
          <a:stretch>
            <a:fillRect/>
          </a:stretch>
        </p:blipFill>
        <p:spPr>
          <a:xfrm>
            <a:off x="8655844" y="3214688"/>
            <a:ext cx="2044700" cy="2044700"/>
          </a:xfr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F8549D-D208-0DF0-491E-BEDDF039B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8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BE5B049-1B55-DF13-6B2B-A049EDDE96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4712" y="329210"/>
            <a:ext cx="2311787" cy="138499"/>
          </a:xfrm>
        </p:spPr>
        <p:txBody>
          <a:bodyPr/>
          <a:lstStyle/>
          <a:p>
            <a:r>
              <a:rPr lang="fr-FR" dirty="0"/>
              <a:t>1. présentation </a:t>
            </a:r>
            <a:r>
              <a:rPr lang="fr-FR" dirty="0">
                <a:solidFill>
                  <a:srgbClr val="2072FF"/>
                </a:solidFill>
              </a:rPr>
              <a:t>/ 1.1 entreprise</a:t>
            </a:r>
          </a:p>
        </p:txBody>
      </p:sp>
    </p:spTree>
    <p:extLst>
      <p:ext uri="{BB962C8B-B14F-4D97-AF65-F5344CB8AC3E}">
        <p14:creationId xmlns:p14="http://schemas.microsoft.com/office/powerpoint/2010/main" val="240359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5BB08C6-D476-8927-1170-35259756C0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sz="1400" b="1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PHASE #1 </a:t>
            </a:r>
            <a:br>
              <a:rPr lang="fr-FR" sz="14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fr-FR" sz="1400" b="1" dirty="0">
                <a:latin typeface="Arial Black" panose="020B0604020202020204" pitchFamily="34" charset="0"/>
                <a:cs typeface="Arial Black" panose="020B0604020202020204" pitchFamily="34" charset="0"/>
              </a:rPr>
              <a:t>– PREPARATION DE L’AUDIT </a:t>
            </a:r>
          </a:p>
          <a:p>
            <a:pPr>
              <a:lnSpc>
                <a:spcPts val="1400"/>
              </a:lnSpc>
            </a:pPr>
            <a:br>
              <a:rPr lang="fr-FR" dirty="0"/>
            </a:br>
            <a:r>
              <a:rPr lang="fr-FR" dirty="0"/>
              <a:t>Cette phase consiste dans la collecte d’un maximum de documents permettant de préparer l’audit sur site.   </a:t>
            </a:r>
            <a:br>
              <a:rPr lang="fr-FR" dirty="0"/>
            </a:br>
            <a:endParaRPr lang="fr-FR" dirty="0"/>
          </a:p>
          <a:p>
            <a:pPr>
              <a:lnSpc>
                <a:spcPts val="1400"/>
              </a:lnSpc>
            </a:pPr>
            <a:r>
              <a:rPr lang="fr-FR" b="1" dirty="0">
                <a:solidFill>
                  <a:srgbClr val="2072FF"/>
                </a:solidFill>
              </a:rPr>
              <a:t>7 Catégories </a:t>
            </a:r>
            <a:r>
              <a:rPr lang="fr-FR" dirty="0"/>
              <a:t>d’informations. </a:t>
            </a:r>
          </a:p>
          <a:p>
            <a:pPr>
              <a:lnSpc>
                <a:spcPts val="1400"/>
              </a:lnSpc>
            </a:pPr>
            <a:r>
              <a:rPr lang="fr-FR" dirty="0"/>
              <a:t>Estimation </a:t>
            </a:r>
            <a:r>
              <a:rPr lang="fr-FR" b="1" dirty="0">
                <a:solidFill>
                  <a:srgbClr val="2072FF"/>
                </a:solidFill>
              </a:rPr>
              <a:t>du temps de recherche</a:t>
            </a:r>
            <a:r>
              <a:rPr lang="fr-FR" dirty="0"/>
              <a:t> par catégorie :  </a:t>
            </a:r>
          </a:p>
          <a:p>
            <a:pPr>
              <a:lnSpc>
                <a:spcPts val="1400"/>
              </a:lnSpc>
            </a:pPr>
            <a:endParaRPr lang="fr-FR" dirty="0"/>
          </a:p>
          <a:p>
            <a:pPr>
              <a:lnSpc>
                <a:spcPts val="1400"/>
              </a:lnSpc>
            </a:pPr>
            <a:r>
              <a:rPr lang="fr-FR" dirty="0">
                <a:solidFill>
                  <a:srgbClr val="2072FF"/>
                </a:solidFill>
              </a:rPr>
              <a:t>#1 - </a:t>
            </a:r>
            <a:r>
              <a:rPr lang="fr-FR" dirty="0"/>
              <a:t>INFRASTRUCTURE : </a:t>
            </a:r>
            <a:r>
              <a:rPr lang="fr-FR" b="1" dirty="0"/>
              <a:t>30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#2 - </a:t>
            </a:r>
            <a:r>
              <a:rPr lang="fr-FR" dirty="0"/>
              <a:t>ANNUAIRE : </a:t>
            </a:r>
            <a:r>
              <a:rPr lang="fr-FR" b="1" dirty="0"/>
              <a:t>30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#3 - </a:t>
            </a:r>
            <a:r>
              <a:rPr lang="fr-FR" dirty="0"/>
              <a:t>SERVEUR DE FICHIER : </a:t>
            </a:r>
            <a:r>
              <a:rPr lang="fr-FR" b="1" dirty="0"/>
              <a:t>30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#4 - </a:t>
            </a:r>
            <a:r>
              <a:rPr lang="fr-FR" dirty="0"/>
              <a:t>E-MAIL : </a:t>
            </a:r>
            <a:r>
              <a:rPr lang="fr-FR" b="1" dirty="0"/>
              <a:t>30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#5 - </a:t>
            </a:r>
            <a:r>
              <a:rPr lang="fr-FR" dirty="0"/>
              <a:t>COLLABORATION : </a:t>
            </a:r>
            <a:r>
              <a:rPr lang="fr-FR" b="1" dirty="0"/>
              <a:t>15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#6 - </a:t>
            </a:r>
            <a:r>
              <a:rPr lang="fr-FR" dirty="0"/>
              <a:t>HELPDESK : </a:t>
            </a:r>
            <a:r>
              <a:rPr lang="fr-FR" b="1" dirty="0"/>
              <a:t>30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#7 - </a:t>
            </a:r>
            <a:r>
              <a:rPr lang="fr-FR" dirty="0"/>
              <a:t>AUTRES TECHNOLOGIES : </a:t>
            </a:r>
            <a:r>
              <a:rPr lang="fr-FR" b="1" dirty="0"/>
              <a:t>15 min </a:t>
            </a: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#8 - </a:t>
            </a:r>
            <a:r>
              <a:rPr lang="fr-FR" dirty="0"/>
              <a:t>EXPRESSION DE BESOINS COMPLEMENTAIRES : </a:t>
            </a:r>
            <a:r>
              <a:rPr lang="fr-FR" b="1" dirty="0"/>
              <a:t>15 min 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8694576-B53C-8DF5-E466-41F1EC70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BA35606E-4C1A-CB06-3887-A2579CCA53D8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3"/>
          <a:stretch/>
        </p:blipFill>
        <p:spPr>
          <a:xfrm>
            <a:off x="8719344" y="3278188"/>
            <a:ext cx="1917700" cy="1917700"/>
          </a:xfr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043A9D-4655-2DA5-0DA7-81330DCDD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9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67906F5-1DA2-DAF0-A38B-FB60C0DF11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4712" y="329210"/>
            <a:ext cx="2311787" cy="138499"/>
          </a:xfrm>
        </p:spPr>
        <p:txBody>
          <a:bodyPr/>
          <a:lstStyle/>
          <a:p>
            <a:r>
              <a:rPr lang="fr-FR" dirty="0"/>
              <a:t>1. Présentation </a:t>
            </a:r>
            <a:r>
              <a:rPr lang="fr-FR" dirty="0">
                <a:solidFill>
                  <a:srgbClr val="2072FF"/>
                </a:solidFill>
              </a:rPr>
              <a:t>/ 1.1 entreprise</a:t>
            </a:r>
          </a:p>
        </p:txBody>
      </p:sp>
    </p:spTree>
    <p:extLst>
      <p:ext uri="{BB962C8B-B14F-4D97-AF65-F5344CB8AC3E}">
        <p14:creationId xmlns:p14="http://schemas.microsoft.com/office/powerpoint/2010/main" val="192584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91903-0E71-C21E-D5AE-6C82008D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567FD9-DBB8-543D-FB10-3509BC3DCE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sz="1400" b="1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PHASE #1 </a:t>
            </a:r>
          </a:p>
          <a:p>
            <a:r>
              <a:rPr lang="fr-FR" sz="1400" b="1" dirty="0">
                <a:latin typeface="Arial Black" panose="020B0604020202020204" pitchFamily="34" charset="0"/>
                <a:cs typeface="Arial Black" panose="020B0604020202020204" pitchFamily="34" charset="0"/>
              </a:rPr>
              <a:t>– PREPARATION DE L’AUDIT </a:t>
            </a:r>
            <a:endParaRPr lang="fr-FR" dirty="0"/>
          </a:p>
          <a:p>
            <a:pPr>
              <a:lnSpc>
                <a:spcPts val="1400"/>
              </a:lnSpc>
            </a:pPr>
            <a:r>
              <a:rPr lang="fr-FR" dirty="0"/>
              <a:t>Détail des informations à fournir :</a:t>
            </a:r>
            <a:br>
              <a:rPr lang="fr-FR" dirty="0"/>
            </a:b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#1 – INFRASTRUCTURE</a:t>
            </a:r>
            <a:br>
              <a:rPr lang="fr-FR" dirty="0"/>
            </a:br>
            <a:r>
              <a:rPr lang="fr-FR" dirty="0"/>
              <a:t>- schéma de l’infrastructure actuelle.</a:t>
            </a:r>
            <a:br>
              <a:rPr lang="fr-FR" dirty="0"/>
            </a:br>
            <a:r>
              <a:rPr lang="fr-FR" dirty="0"/>
              <a:t>- détail des rôles de chaque équipement.</a:t>
            </a:r>
            <a:br>
              <a:rPr lang="fr-FR" dirty="0"/>
            </a:br>
            <a:r>
              <a:rPr lang="fr-FR" dirty="0"/>
              <a:t>- liste exhaustive des équipements (baie informatique + photos, utilisateurs, salle de réunion etc.)</a:t>
            </a:r>
            <a:br>
              <a:rPr lang="fr-FR" dirty="0"/>
            </a:br>
            <a:r>
              <a:rPr lang="fr-FR" dirty="0"/>
              <a:t>- détails des FAI (fournisseur d’accès à internet) : Bande passante, type de contrat et d’offre.</a:t>
            </a:r>
            <a:br>
              <a:rPr lang="fr-FR" dirty="0"/>
            </a:br>
            <a:r>
              <a:rPr lang="fr-FR" dirty="0"/>
              <a:t>- détails des équipements : marque, numéro de série, type de garantie.</a:t>
            </a:r>
            <a:br>
              <a:rPr lang="fr-FR" dirty="0"/>
            </a:br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#2 – ANNUAIRE</a:t>
            </a:r>
            <a:br>
              <a:rPr lang="fr-FR" dirty="0"/>
            </a:br>
            <a:r>
              <a:rPr lang="fr-FR" dirty="0"/>
              <a:t>- technologie de l’annuaire : AD local, Azure AD, LDAP d’un NAS, pas d’annuaire…?</a:t>
            </a:r>
            <a:br>
              <a:rPr lang="fr-FR" dirty="0"/>
            </a:br>
            <a:r>
              <a:rPr lang="fr-FR" dirty="0"/>
              <a:t>- détail d’organisation des utilisateurs et des groupes</a:t>
            </a:r>
            <a:br>
              <a:rPr lang="fr-FR" dirty="0">
                <a:solidFill>
                  <a:srgbClr val="2072FF"/>
                </a:solidFill>
              </a:rPr>
            </a:br>
            <a:endParaRPr lang="fr-FR" dirty="0">
              <a:solidFill>
                <a:srgbClr val="2072FF"/>
              </a:solidFill>
            </a:endParaRPr>
          </a:p>
          <a:p>
            <a:pPr>
              <a:lnSpc>
                <a:spcPts val="1400"/>
              </a:lnSpc>
            </a:pPr>
            <a:r>
              <a:rPr lang="fr-FR" dirty="0">
                <a:solidFill>
                  <a:srgbClr val="2072FF"/>
                </a:solidFill>
              </a:rPr>
              <a:t>#3 - SERVEUR DE FICHIER</a:t>
            </a:r>
            <a:br>
              <a:rPr lang="fr-FR" dirty="0"/>
            </a:br>
            <a:r>
              <a:rPr lang="fr-FR" dirty="0"/>
              <a:t>- technologie utilisée</a:t>
            </a:r>
            <a:br>
              <a:rPr lang="fr-FR" dirty="0"/>
            </a:br>
            <a:r>
              <a:rPr lang="fr-FR" dirty="0"/>
              <a:t>- volumétrie de stockage : espace totale, espace utilisé, moyenne d’évolution par mois ou par an</a:t>
            </a:r>
            <a:br>
              <a:rPr lang="fr-FR" dirty="0"/>
            </a:br>
            <a:r>
              <a:rPr lang="fr-FR" dirty="0"/>
              <a:t>- technologie de backup et localisation</a:t>
            </a:r>
            <a:endParaRPr lang="fr-FR" b="1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E9BF7E9-20ED-B7AE-486C-D0DED0700C1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MÉTHODOLOGIE</a:t>
            </a:r>
          </a:p>
        </p:txBody>
      </p:sp>
      <p:pic>
        <p:nvPicPr>
          <p:cNvPr id="37" name="Espace réservé pour une image  36" descr="Une image contenant logo, Police, symbole, Graphique&#10;&#10;Description générée automatiquement">
            <a:extLst>
              <a:ext uri="{FF2B5EF4-FFF2-40B4-BE49-F238E27FC236}">
                <a16:creationId xmlns:a16="http://schemas.microsoft.com/office/drawing/2014/main" id="{A71C6811-BB77-859E-B14A-5A335E28C4D5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4"/>
          <a:stretch>
            <a:fillRect/>
          </a:stretch>
        </p:blipFill>
        <p:spPr>
          <a:xfrm>
            <a:off x="7931944" y="2490788"/>
            <a:ext cx="3492500" cy="349250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5CBDB48-5338-C34A-067C-309373CC9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 dirty="0"/>
              <a:t>P.</a:t>
            </a:r>
            <a:fld id="{F00FD67B-C8C4-DB46-A487-CDD26765F7CE}" type="slidenum">
              <a:rPr lang="fr-FR" smtClean="0"/>
              <a:pPr/>
              <a:t>10</a:t>
            </a:fld>
            <a:r>
              <a:rPr lang="fr-FR" dirty="0">
                <a:cs typeface="Review Heavy" pitchFamily="2" charset="77"/>
              </a:rPr>
              <a:t> 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F58A8D2-B682-34FA-C98D-E56F156EEC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4712" y="329210"/>
            <a:ext cx="2540632" cy="138499"/>
          </a:xfrm>
        </p:spPr>
        <p:txBody>
          <a:bodyPr/>
          <a:lstStyle/>
          <a:p>
            <a:r>
              <a:rPr lang="fr-FR" dirty="0"/>
              <a:t>1. présentation </a:t>
            </a:r>
            <a:r>
              <a:rPr lang="fr-FR" dirty="0">
                <a:solidFill>
                  <a:srgbClr val="2072FF"/>
                </a:solidFill>
              </a:rPr>
              <a:t>/ 1.1 méthodologie</a:t>
            </a:r>
          </a:p>
        </p:txBody>
      </p:sp>
    </p:spTree>
    <p:extLst>
      <p:ext uri="{BB962C8B-B14F-4D97-AF65-F5344CB8AC3E}">
        <p14:creationId xmlns:p14="http://schemas.microsoft.com/office/powerpoint/2010/main" val="368918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E8396-B18F-FA96-DE44-D2412D3C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1CF4DE-0C2E-7881-FE20-8EC759C4F5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sz="1400" b="1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PHASE #2 </a:t>
            </a:r>
          </a:p>
          <a:p>
            <a:r>
              <a:rPr lang="fr-FR" sz="1400" b="1" dirty="0">
                <a:latin typeface="Arial Black" panose="020B0604020202020204" pitchFamily="34" charset="0"/>
                <a:cs typeface="Arial Black" panose="020B0604020202020204" pitchFamily="34" charset="0"/>
              </a:rPr>
              <a:t>– AUDIT SUR SITE</a:t>
            </a:r>
          </a:p>
          <a:p>
            <a:pPr>
              <a:lnSpc>
                <a:spcPts val="1400"/>
              </a:lnSpc>
            </a:pPr>
            <a:endParaRPr lang="fr-FR" dirty="0">
              <a:solidFill>
                <a:srgbClr val="2072FF"/>
              </a:solidFill>
            </a:endParaRPr>
          </a:p>
          <a:p>
            <a:pPr>
              <a:lnSpc>
                <a:spcPts val="1400"/>
              </a:lnSpc>
            </a:pPr>
            <a:r>
              <a:rPr lang="fr-FR" dirty="0">
                <a:solidFill>
                  <a:srgbClr val="2072FF"/>
                </a:solidFill>
              </a:rPr>
              <a:t>ATELIER #1 : ARCHITECTURE &amp; TECHNOLOGIES</a:t>
            </a:r>
            <a:br>
              <a:rPr lang="fr-FR" dirty="0">
                <a:solidFill>
                  <a:srgbClr val="2072FF"/>
                </a:solidFill>
              </a:rPr>
            </a:br>
            <a:r>
              <a:rPr lang="fr-FR" b="1" dirty="0"/>
              <a:t>_Architecture réseau &amp; infrastructure : </a:t>
            </a:r>
            <a:r>
              <a:rPr lang="fr-FR" dirty="0"/>
              <a:t>organisation, sécurité, accès (local ou distant)</a:t>
            </a:r>
            <a:br>
              <a:rPr lang="fr-FR" dirty="0"/>
            </a:br>
            <a:r>
              <a:rPr lang="fr-FR" b="1" dirty="0"/>
              <a:t>_Typologie de poste et d’utilisateurs : </a:t>
            </a:r>
            <a:r>
              <a:rPr lang="fr-FR" dirty="0"/>
              <a:t>organisation, droit, usages</a:t>
            </a:r>
            <a:br>
              <a:rPr lang="fr-FR" dirty="0"/>
            </a:br>
            <a:r>
              <a:rPr lang="fr-FR" b="1" dirty="0"/>
              <a:t>_Projet en local : </a:t>
            </a:r>
            <a:r>
              <a:rPr lang="fr-FR" dirty="0"/>
              <a:t>architecture et fonctionnement</a:t>
            </a:r>
            <a:br>
              <a:rPr lang="fr-FR" dirty="0"/>
            </a:br>
            <a:r>
              <a:rPr lang="fr-FR" b="1" dirty="0"/>
              <a:t>_Cartographie des données, </a:t>
            </a:r>
            <a:r>
              <a:rPr lang="fr-FR" dirty="0"/>
              <a:t>volumétrie et gestion de fichiers</a:t>
            </a:r>
            <a:br>
              <a:rPr lang="fr-FR" dirty="0"/>
            </a:br>
            <a:r>
              <a:rPr lang="fr-FR" b="1" dirty="0"/>
              <a:t>_Sauvegarde : </a:t>
            </a:r>
            <a:r>
              <a:rPr lang="fr-FR" dirty="0"/>
              <a:t>données, e-mail, système</a:t>
            </a:r>
            <a:br>
              <a:rPr lang="fr-FR" dirty="0"/>
            </a:br>
            <a:r>
              <a:rPr lang="fr-FR" b="1" dirty="0"/>
              <a:t>_e-mail &amp; collaboration : </a:t>
            </a:r>
            <a:r>
              <a:rPr lang="fr-FR" dirty="0"/>
              <a:t>organisation, paramétrages</a:t>
            </a:r>
            <a:br>
              <a:rPr lang="fr-FR" dirty="0"/>
            </a:br>
            <a:r>
              <a:rPr lang="fr-FR" b="1" dirty="0"/>
              <a:t>_Outils SAAS : </a:t>
            </a:r>
            <a:r>
              <a:rPr lang="fr-FR" dirty="0"/>
              <a:t>paramétrages, backup, résilience</a:t>
            </a:r>
            <a:br>
              <a:rPr lang="fr-FR" dirty="0">
                <a:solidFill>
                  <a:srgbClr val="2072FF"/>
                </a:solidFill>
              </a:rPr>
            </a:br>
            <a:br>
              <a:rPr lang="fr-FR" dirty="0">
                <a:solidFill>
                  <a:srgbClr val="2072FF"/>
                </a:solidFill>
              </a:rPr>
            </a:br>
            <a:r>
              <a:rPr lang="fr-FR" dirty="0">
                <a:solidFill>
                  <a:srgbClr val="2072FF"/>
                </a:solidFill>
              </a:rPr>
              <a:t>TEMPS : </a:t>
            </a:r>
            <a:br>
              <a:rPr lang="fr-FR" dirty="0">
                <a:solidFill>
                  <a:srgbClr val="2072FF"/>
                </a:solidFill>
              </a:rPr>
            </a:br>
            <a:r>
              <a:rPr lang="fr-FR" b="1" dirty="0"/>
              <a:t>_Atelier #1 : </a:t>
            </a:r>
            <a:r>
              <a:rPr lang="fr-FR" dirty="0"/>
              <a:t>2j</a:t>
            </a:r>
            <a:br>
              <a:rPr lang="fr-FR" dirty="0">
                <a:solidFill>
                  <a:srgbClr val="2072FF"/>
                </a:solidFill>
              </a:rPr>
            </a:br>
            <a:br>
              <a:rPr lang="fr-FR" dirty="0">
                <a:solidFill>
                  <a:srgbClr val="2072FF"/>
                </a:solidFill>
              </a:rPr>
            </a:br>
            <a:r>
              <a:rPr lang="fr-FR" dirty="0">
                <a:solidFill>
                  <a:srgbClr val="2072FF"/>
                </a:solidFill>
              </a:rPr>
              <a:t>RESSOURCES NÉCESSAIRES :</a:t>
            </a:r>
            <a:br>
              <a:rPr lang="fr-FR" dirty="0">
                <a:solidFill>
                  <a:srgbClr val="2072FF"/>
                </a:solidFill>
              </a:rPr>
            </a:br>
            <a:r>
              <a:rPr lang="fr-FR" b="1" dirty="0"/>
              <a:t>_PAYOT : </a:t>
            </a:r>
            <a:r>
              <a:rPr lang="fr-FR" dirty="0"/>
              <a:t>à définir</a:t>
            </a:r>
            <a:br>
              <a:rPr lang="fr-FR" dirty="0"/>
            </a:br>
            <a:r>
              <a:rPr lang="fr-FR" b="1" dirty="0"/>
              <a:t>_OTO : </a:t>
            </a:r>
            <a:r>
              <a:rPr lang="fr-FR" dirty="0"/>
              <a:t>Michael, Brice</a:t>
            </a:r>
            <a:endParaRPr lang="fr-FR" b="1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4A508FF-9554-103C-F7A0-1E7E224DB0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3982F4-D8DB-7E22-51D4-CB74764852C3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E4DA62E-3C15-D66E-3D52-DA4F5140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11</a:t>
            </a:fld>
            <a:r>
              <a:rPr lang="fr-FR">
                <a:cs typeface="Review Heavy" pitchFamily="2" charset="77"/>
              </a:rPr>
              <a:t>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E9DF403-B82B-74F3-3AB8-8A541EE17E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755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C4C7B8-ECBF-10B8-F07A-31B288FE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VALEURS DE LA DÉMARCHE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533174-28FB-A7AE-FD8F-5555D4C8D7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INVESTISSEMENT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9750EE-8D10-262C-12C3-33BD5D03A9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fr-FR" dirty="0"/>
              <a:t>EXPÉRIENCE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007DDE-9332-B39D-FFDB-8E7EB1ED00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r-FR" dirty="0"/>
              <a:t>DIGITAL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8C9637-BD53-DAAB-FDEF-35DB571FB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12</a:t>
            </a:fld>
            <a:r>
              <a:rPr lang="fr-FR"/>
              <a:t> </a:t>
            </a:r>
            <a:endParaRPr lang="fr-FR" dirty="0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66542C64-33E0-019F-47E6-A2B4D0A2F598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106" y="2505075"/>
            <a:ext cx="2830513" cy="2830513"/>
          </a:xfrm>
        </p:spPr>
      </p:pic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36339928-6F93-DD53-4F9A-5AD6D2DA9F5B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6943" y="2505075"/>
            <a:ext cx="2830513" cy="2830513"/>
          </a:xfrm>
        </p:spPr>
      </p:pic>
      <p:pic>
        <p:nvPicPr>
          <p:cNvPr id="16" name="Espace réservé du contenu 15">
            <a:extLst>
              <a:ext uri="{FF2B5EF4-FFF2-40B4-BE49-F238E27FC236}">
                <a16:creationId xmlns:a16="http://schemas.microsoft.com/office/drawing/2014/main" id="{A6614D65-5875-973F-3680-97FB33FE158F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2812" y="2505075"/>
            <a:ext cx="2830513" cy="2830513"/>
          </a:xfr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7006FB-08DF-BA97-3F68-917A0CDFF2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4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D2133C-78A5-E1EB-2279-C7400E8370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b="1" dirty="0"/>
              <a:t>Lorem Ipsum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</a:p>
          <a:p>
            <a:endParaRPr lang="fr-FR" dirty="0"/>
          </a:p>
          <a:p>
            <a:r>
              <a:rPr lang="fr-FR" dirty="0">
                <a:solidFill>
                  <a:srgbClr val="2072FF"/>
                </a:solidFill>
              </a:rPr>
              <a:t>WHY DO WE USE IT?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a long </a:t>
            </a:r>
            <a:r>
              <a:rPr lang="fr-FR" dirty="0" err="1"/>
              <a:t>established</a:t>
            </a:r>
            <a:r>
              <a:rPr lang="fr-FR" dirty="0"/>
              <a:t>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 </a:t>
            </a:r>
            <a:r>
              <a:rPr lang="fr-FR" dirty="0" err="1"/>
              <a:t>reader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distracted</a:t>
            </a:r>
            <a:r>
              <a:rPr lang="fr-FR" dirty="0"/>
              <a:t> by the </a:t>
            </a:r>
            <a:r>
              <a:rPr lang="fr-FR" dirty="0" err="1"/>
              <a:t>readable</a:t>
            </a:r>
            <a:r>
              <a:rPr lang="fr-FR" dirty="0"/>
              <a:t> content of a page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looking</a:t>
            </a:r>
            <a:r>
              <a:rPr lang="fr-FR" dirty="0"/>
              <a:t> at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layout</a:t>
            </a:r>
            <a:r>
              <a:rPr lang="fr-FR" dirty="0"/>
              <a:t>. The point of </a:t>
            </a:r>
            <a:r>
              <a:rPr lang="fr-FR" dirty="0" err="1"/>
              <a:t>using</a:t>
            </a:r>
            <a:r>
              <a:rPr lang="fr-FR" dirty="0"/>
              <a:t> Lorem Ipsum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has a more-or-</a:t>
            </a:r>
            <a:r>
              <a:rPr lang="fr-FR" dirty="0" err="1"/>
              <a:t>less</a:t>
            </a:r>
            <a:r>
              <a:rPr lang="fr-FR" dirty="0"/>
              <a:t> normal distribution of </a:t>
            </a:r>
            <a:r>
              <a:rPr lang="fr-FR" dirty="0" err="1"/>
              <a:t>letters</a:t>
            </a:r>
            <a:r>
              <a:rPr lang="fr-FR" dirty="0"/>
              <a:t>, as </a:t>
            </a:r>
            <a:r>
              <a:rPr lang="fr-FR" dirty="0" err="1"/>
              <a:t>opposed</a:t>
            </a:r>
            <a:r>
              <a:rPr lang="fr-FR" dirty="0"/>
              <a:t> to </a:t>
            </a:r>
            <a:r>
              <a:rPr lang="fr-FR" dirty="0" err="1"/>
              <a:t>using</a:t>
            </a:r>
            <a:r>
              <a:rPr lang="fr-FR" dirty="0"/>
              <a:t> 'Content </a:t>
            </a:r>
            <a:r>
              <a:rPr lang="fr-FR" dirty="0" err="1"/>
              <a:t>here</a:t>
            </a:r>
            <a:r>
              <a:rPr lang="fr-FR" dirty="0"/>
              <a:t>, content </a:t>
            </a:r>
            <a:r>
              <a:rPr lang="fr-FR" dirty="0" err="1"/>
              <a:t>here</a:t>
            </a:r>
            <a:r>
              <a:rPr lang="fr-FR" dirty="0"/>
              <a:t>', </a:t>
            </a:r>
            <a:r>
              <a:rPr lang="fr-FR" dirty="0" err="1"/>
              <a:t>making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look like </a:t>
            </a:r>
            <a:r>
              <a:rPr lang="fr-FR" dirty="0" err="1"/>
              <a:t>readable</a:t>
            </a:r>
            <a:r>
              <a:rPr lang="fr-FR" dirty="0"/>
              <a:t> English. </a:t>
            </a:r>
            <a:r>
              <a:rPr lang="fr-FR" dirty="0" err="1"/>
              <a:t>Many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packages and web page editors </a:t>
            </a:r>
            <a:r>
              <a:rPr lang="fr-FR" dirty="0" err="1"/>
              <a:t>now</a:t>
            </a:r>
            <a:r>
              <a:rPr lang="fr-FR" dirty="0"/>
              <a:t> use Lorem Ipsum as </a:t>
            </a:r>
            <a:r>
              <a:rPr lang="fr-FR" dirty="0" err="1"/>
              <a:t>their</a:t>
            </a:r>
            <a:r>
              <a:rPr lang="fr-FR" dirty="0"/>
              <a:t> default model </a:t>
            </a:r>
            <a:r>
              <a:rPr lang="fr-FR" dirty="0" err="1"/>
              <a:t>text</a:t>
            </a:r>
            <a:r>
              <a:rPr lang="fr-FR" dirty="0"/>
              <a:t>, and a </a:t>
            </a:r>
            <a:r>
              <a:rPr lang="fr-FR" dirty="0" err="1"/>
              <a:t>search</a:t>
            </a:r>
            <a:r>
              <a:rPr lang="fr-FR" dirty="0"/>
              <a:t> for '</a:t>
            </a:r>
            <a:r>
              <a:rPr lang="fr-FR" dirty="0" err="1"/>
              <a:t>lorem</a:t>
            </a:r>
            <a:r>
              <a:rPr lang="fr-FR" dirty="0"/>
              <a:t> ipsum'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uncover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web sites </a:t>
            </a:r>
            <a:r>
              <a:rPr lang="fr-FR" dirty="0" err="1"/>
              <a:t>still</a:t>
            </a:r>
            <a:r>
              <a:rPr lang="fr-FR" dirty="0"/>
              <a:t> in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infancy</a:t>
            </a:r>
            <a:r>
              <a:rPr lang="fr-FR" dirty="0"/>
              <a:t>. </a:t>
            </a:r>
            <a:r>
              <a:rPr lang="fr-FR" dirty="0" err="1"/>
              <a:t>Various</a:t>
            </a:r>
            <a:r>
              <a:rPr lang="fr-FR" dirty="0"/>
              <a:t> versions have </a:t>
            </a:r>
            <a:r>
              <a:rPr lang="fr-FR" dirty="0" err="1"/>
              <a:t>evolved</a:t>
            </a:r>
            <a:r>
              <a:rPr lang="fr-FR" dirty="0"/>
              <a:t> over the </a:t>
            </a:r>
            <a:r>
              <a:rPr lang="fr-FR" dirty="0" err="1"/>
              <a:t>years</a:t>
            </a:r>
            <a:r>
              <a:rPr lang="fr-FR" dirty="0"/>
              <a:t>, </a:t>
            </a:r>
            <a:r>
              <a:rPr lang="fr-FR" dirty="0" err="1"/>
              <a:t>sometimes</a:t>
            </a:r>
            <a:r>
              <a:rPr lang="fr-FR" dirty="0"/>
              <a:t> by accident, </a:t>
            </a:r>
            <a:r>
              <a:rPr lang="fr-FR" dirty="0" err="1"/>
              <a:t>sometimes</a:t>
            </a:r>
            <a:r>
              <a:rPr lang="fr-FR" dirty="0"/>
              <a:t> on </a:t>
            </a:r>
            <a:r>
              <a:rPr lang="fr-FR" dirty="0" err="1"/>
              <a:t>purpose</a:t>
            </a:r>
            <a:r>
              <a:rPr lang="fr-FR" dirty="0"/>
              <a:t> (</a:t>
            </a:r>
            <a:r>
              <a:rPr lang="fr-FR" dirty="0" err="1"/>
              <a:t>injected</a:t>
            </a:r>
            <a:r>
              <a:rPr lang="fr-FR" dirty="0"/>
              <a:t> humour and the like).</a:t>
            </a:r>
          </a:p>
          <a:p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WHERE DOES IT COME FROM?</a:t>
            </a:r>
          </a:p>
          <a:p>
            <a:r>
              <a:rPr lang="fr-FR" dirty="0" err="1"/>
              <a:t>Contrary</a:t>
            </a:r>
            <a:r>
              <a:rPr lang="fr-FR" dirty="0"/>
              <a:t> to </a:t>
            </a:r>
            <a:r>
              <a:rPr lang="fr-FR" dirty="0" err="1"/>
              <a:t>popular</a:t>
            </a:r>
            <a:r>
              <a:rPr lang="fr-FR" dirty="0"/>
              <a:t> </a:t>
            </a:r>
            <a:r>
              <a:rPr lang="fr-FR" dirty="0" err="1"/>
              <a:t>belief</a:t>
            </a:r>
            <a:r>
              <a:rPr lang="fr-FR" dirty="0"/>
              <a:t>, Lorem Ipsum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. It has </a:t>
            </a:r>
            <a:r>
              <a:rPr lang="fr-FR" dirty="0" err="1"/>
              <a:t>roots</a:t>
            </a:r>
            <a:r>
              <a:rPr lang="fr-FR" dirty="0"/>
              <a:t> in a </a:t>
            </a:r>
            <a:r>
              <a:rPr lang="fr-FR" dirty="0" err="1"/>
              <a:t>piece</a:t>
            </a:r>
            <a:r>
              <a:rPr lang="fr-FR" dirty="0"/>
              <a:t> of </a:t>
            </a:r>
            <a:r>
              <a:rPr lang="fr-FR" dirty="0" err="1"/>
              <a:t>classical</a:t>
            </a:r>
            <a:r>
              <a:rPr lang="fr-FR" dirty="0"/>
              <a:t> Latin </a:t>
            </a:r>
            <a:r>
              <a:rPr lang="fr-FR" dirty="0" err="1"/>
              <a:t>literature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45 BC, </a:t>
            </a:r>
            <a:r>
              <a:rPr lang="fr-FR" dirty="0" err="1"/>
              <a:t>making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over 2000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. Richard McClintock, a Latin </a:t>
            </a:r>
            <a:r>
              <a:rPr lang="fr-FR" dirty="0" err="1"/>
              <a:t>professor</a:t>
            </a:r>
            <a:r>
              <a:rPr lang="fr-FR" dirty="0"/>
              <a:t> at Hampden-Sydney </a:t>
            </a:r>
            <a:r>
              <a:rPr lang="fr-FR" dirty="0" err="1"/>
              <a:t>College</a:t>
            </a:r>
            <a:r>
              <a:rPr lang="fr-FR" dirty="0"/>
              <a:t> in Virginia, </a:t>
            </a:r>
            <a:r>
              <a:rPr lang="fr-FR" dirty="0" err="1"/>
              <a:t>looked</a:t>
            </a:r>
            <a:r>
              <a:rPr lang="fr-FR" dirty="0"/>
              <a:t> up one of the more obscure Latin </a:t>
            </a:r>
            <a:r>
              <a:rPr lang="fr-FR" dirty="0" err="1"/>
              <a:t>words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from</a:t>
            </a:r>
            <a:r>
              <a:rPr lang="fr-FR" dirty="0"/>
              <a:t> a Lorem Ipsum passage, and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the cites of the </a:t>
            </a:r>
            <a:r>
              <a:rPr lang="fr-FR" dirty="0" err="1"/>
              <a:t>word</a:t>
            </a:r>
            <a:r>
              <a:rPr lang="fr-FR" dirty="0"/>
              <a:t> in </a:t>
            </a:r>
            <a:r>
              <a:rPr lang="fr-FR" dirty="0" err="1"/>
              <a:t>classical</a:t>
            </a:r>
            <a:r>
              <a:rPr lang="fr-FR" dirty="0"/>
              <a:t> </a:t>
            </a:r>
            <a:r>
              <a:rPr lang="fr-FR" dirty="0" err="1"/>
              <a:t>literature</a:t>
            </a:r>
            <a:r>
              <a:rPr lang="fr-FR" dirty="0"/>
              <a:t>, </a:t>
            </a:r>
            <a:r>
              <a:rPr lang="fr-FR" dirty="0" err="1"/>
              <a:t>discovered</a:t>
            </a:r>
            <a:r>
              <a:rPr lang="fr-FR" dirty="0"/>
              <a:t> the </a:t>
            </a:r>
            <a:r>
              <a:rPr lang="fr-FR" dirty="0" err="1"/>
              <a:t>undoubtable</a:t>
            </a:r>
            <a:r>
              <a:rPr lang="fr-FR" dirty="0"/>
              <a:t> source. Lorem Ipsum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sections 1.10.32 and 1.10.33 of "de </a:t>
            </a:r>
            <a:r>
              <a:rPr lang="fr-FR" dirty="0" err="1"/>
              <a:t>Finibus</a:t>
            </a:r>
            <a:r>
              <a:rPr lang="fr-FR" dirty="0"/>
              <a:t> </a:t>
            </a:r>
            <a:r>
              <a:rPr lang="fr-FR" dirty="0" err="1"/>
              <a:t>Bonorum</a:t>
            </a:r>
            <a:r>
              <a:rPr lang="fr-FR" dirty="0"/>
              <a:t> et </a:t>
            </a:r>
            <a:r>
              <a:rPr lang="fr-FR" dirty="0" err="1"/>
              <a:t>Malorum</a:t>
            </a:r>
            <a:r>
              <a:rPr lang="fr-FR" dirty="0"/>
              <a:t>" (The </a:t>
            </a:r>
            <a:r>
              <a:rPr lang="fr-FR" dirty="0" err="1"/>
              <a:t>Extremes</a:t>
            </a:r>
            <a:r>
              <a:rPr lang="fr-FR" dirty="0"/>
              <a:t> of Good and </a:t>
            </a:r>
            <a:r>
              <a:rPr lang="fr-FR" dirty="0" err="1"/>
              <a:t>Evil</a:t>
            </a:r>
            <a:r>
              <a:rPr lang="fr-FR" dirty="0"/>
              <a:t>) by Cicero, </a:t>
            </a:r>
            <a:r>
              <a:rPr lang="fr-FR" dirty="0" err="1"/>
              <a:t>written</a:t>
            </a:r>
            <a:r>
              <a:rPr lang="fr-FR" dirty="0"/>
              <a:t> in 45 BC. This book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treatise</a:t>
            </a:r>
            <a:r>
              <a:rPr lang="fr-FR" dirty="0"/>
              <a:t> on the </a:t>
            </a:r>
            <a:r>
              <a:rPr lang="fr-FR" dirty="0" err="1"/>
              <a:t>theory</a:t>
            </a:r>
            <a:r>
              <a:rPr lang="fr-FR" dirty="0"/>
              <a:t> of </a:t>
            </a:r>
            <a:r>
              <a:rPr lang="fr-FR" dirty="0" err="1"/>
              <a:t>ethics</a:t>
            </a:r>
            <a:r>
              <a:rPr lang="fr-FR" dirty="0"/>
              <a:t>,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popular</a:t>
            </a:r>
            <a:r>
              <a:rPr lang="fr-FR" dirty="0"/>
              <a:t> </a:t>
            </a:r>
            <a:r>
              <a:rPr lang="fr-FR" dirty="0" err="1"/>
              <a:t>during</a:t>
            </a:r>
            <a:r>
              <a:rPr lang="fr-FR" dirty="0"/>
              <a:t> the Renaissance. The first line of Lorem Ipsum, "Lorem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..",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 line in section 1.10.32.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E41A012-6642-CB33-DE21-56DB377FFA3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MÉTHODOLOGIE</a:t>
            </a:r>
            <a:br>
              <a:rPr lang="fr-FR" dirty="0"/>
            </a:br>
            <a:r>
              <a:rPr lang="fr-FR" dirty="0"/>
              <a:t>SUR-MESURE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1A5565D-1980-1843-B6EA-1E3308969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13</a:t>
            </a:fld>
            <a:r>
              <a:rPr lang="fr-FR">
                <a:cs typeface="Review Heavy" pitchFamily="2" charset="77"/>
              </a:rPr>
              <a:t> 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4C20FF-B833-054D-60E1-638A4C1A7E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607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1D8A-1480-04B4-FE9E-69D6038A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DA8234-C293-3FBF-A68F-4F42476A08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b="1" dirty="0"/>
              <a:t>Lorem Ipsum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of the printing and </a:t>
            </a:r>
            <a:r>
              <a:rPr lang="fr-FR" dirty="0" err="1"/>
              <a:t>typesetting</a:t>
            </a:r>
            <a:r>
              <a:rPr lang="fr-FR" dirty="0"/>
              <a:t> </a:t>
            </a:r>
            <a:r>
              <a:rPr lang="fr-FR" dirty="0" err="1"/>
              <a:t>industry</a:t>
            </a:r>
            <a:r>
              <a:rPr lang="fr-FR" dirty="0"/>
              <a:t>. Lorem Ipsum has been the </a:t>
            </a:r>
            <a:r>
              <a:rPr lang="fr-FR" dirty="0" err="1"/>
              <a:t>industry's</a:t>
            </a:r>
            <a:r>
              <a:rPr lang="fr-FR" dirty="0"/>
              <a:t> standard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ever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the 1500s, </a:t>
            </a:r>
            <a:r>
              <a:rPr lang="fr-FR" dirty="0" err="1"/>
              <a:t>when</a:t>
            </a:r>
            <a:r>
              <a:rPr lang="fr-FR" dirty="0"/>
              <a:t> an </a:t>
            </a:r>
            <a:r>
              <a:rPr lang="fr-FR" dirty="0" err="1"/>
              <a:t>unknown</a:t>
            </a:r>
            <a:r>
              <a:rPr lang="fr-FR" dirty="0"/>
              <a:t> printer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galley</a:t>
            </a:r>
            <a:r>
              <a:rPr lang="fr-FR" dirty="0"/>
              <a:t> of type and </a:t>
            </a:r>
            <a:r>
              <a:rPr lang="fr-FR" dirty="0" err="1"/>
              <a:t>scrambled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a type </a:t>
            </a:r>
            <a:r>
              <a:rPr lang="fr-FR" dirty="0" err="1"/>
              <a:t>specimen</a:t>
            </a:r>
            <a:r>
              <a:rPr lang="fr-FR" dirty="0"/>
              <a:t> book. It has </a:t>
            </a:r>
            <a:r>
              <a:rPr lang="fr-FR" dirty="0" err="1"/>
              <a:t>survived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five centuries, but </a:t>
            </a:r>
            <a:r>
              <a:rPr lang="fr-FR" dirty="0" err="1"/>
              <a:t>also</a:t>
            </a:r>
            <a:r>
              <a:rPr lang="fr-FR" dirty="0"/>
              <a:t> the </a:t>
            </a:r>
            <a:r>
              <a:rPr lang="fr-FR" dirty="0" err="1"/>
              <a:t>leap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typesetting</a:t>
            </a:r>
            <a:r>
              <a:rPr lang="fr-FR" dirty="0"/>
              <a:t>,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unchanged</a:t>
            </a:r>
            <a:r>
              <a:rPr lang="fr-FR" dirty="0"/>
              <a:t>. It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popularised</a:t>
            </a:r>
            <a:r>
              <a:rPr lang="fr-FR" dirty="0"/>
              <a:t> in the 1960s </a:t>
            </a:r>
            <a:r>
              <a:rPr lang="fr-FR" dirty="0" err="1"/>
              <a:t>with</a:t>
            </a:r>
            <a:r>
              <a:rPr lang="fr-FR" dirty="0"/>
              <a:t> the release of </a:t>
            </a:r>
            <a:r>
              <a:rPr lang="fr-FR" dirty="0" err="1"/>
              <a:t>Letraset</a:t>
            </a:r>
            <a:r>
              <a:rPr lang="fr-FR" dirty="0"/>
              <a:t> </a:t>
            </a:r>
            <a:r>
              <a:rPr lang="fr-FR" dirty="0" err="1"/>
              <a:t>sheets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Lorem Ipsum passages, and more </a:t>
            </a:r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software like </a:t>
            </a:r>
            <a:r>
              <a:rPr lang="fr-FR" dirty="0" err="1"/>
              <a:t>Aldus</a:t>
            </a:r>
            <a:r>
              <a:rPr lang="fr-FR" dirty="0"/>
              <a:t> </a:t>
            </a:r>
            <a:r>
              <a:rPr lang="fr-FR" dirty="0" err="1"/>
              <a:t>PageMaker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versions of Lorem Ipsum.</a:t>
            </a:r>
          </a:p>
          <a:p>
            <a:endParaRPr lang="fr-FR" dirty="0"/>
          </a:p>
          <a:p>
            <a:r>
              <a:rPr lang="fr-FR" dirty="0">
                <a:solidFill>
                  <a:srgbClr val="2072FF"/>
                </a:solidFill>
              </a:rPr>
              <a:t>WHY DO WE USE IT?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a long </a:t>
            </a:r>
            <a:r>
              <a:rPr lang="fr-FR" dirty="0" err="1"/>
              <a:t>established</a:t>
            </a:r>
            <a:r>
              <a:rPr lang="fr-FR" dirty="0"/>
              <a:t>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 </a:t>
            </a:r>
            <a:r>
              <a:rPr lang="fr-FR" dirty="0" err="1"/>
              <a:t>reader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distracted</a:t>
            </a:r>
            <a:r>
              <a:rPr lang="fr-FR" dirty="0"/>
              <a:t> by the </a:t>
            </a:r>
            <a:r>
              <a:rPr lang="fr-FR" dirty="0" err="1"/>
              <a:t>readable</a:t>
            </a:r>
            <a:r>
              <a:rPr lang="fr-FR" dirty="0"/>
              <a:t> content of a page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looking</a:t>
            </a:r>
            <a:r>
              <a:rPr lang="fr-FR" dirty="0"/>
              <a:t> at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layout</a:t>
            </a:r>
            <a:r>
              <a:rPr lang="fr-FR" dirty="0"/>
              <a:t>. The point of </a:t>
            </a:r>
            <a:r>
              <a:rPr lang="fr-FR" dirty="0" err="1"/>
              <a:t>using</a:t>
            </a:r>
            <a:r>
              <a:rPr lang="fr-FR" dirty="0"/>
              <a:t> Lorem Ipsum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has a more-or-</a:t>
            </a:r>
            <a:r>
              <a:rPr lang="fr-FR" dirty="0" err="1"/>
              <a:t>less</a:t>
            </a:r>
            <a:r>
              <a:rPr lang="fr-FR" dirty="0"/>
              <a:t> normal distribution of </a:t>
            </a:r>
            <a:r>
              <a:rPr lang="fr-FR" dirty="0" err="1"/>
              <a:t>letters</a:t>
            </a:r>
            <a:r>
              <a:rPr lang="fr-FR" dirty="0"/>
              <a:t>, as </a:t>
            </a:r>
            <a:r>
              <a:rPr lang="fr-FR" dirty="0" err="1"/>
              <a:t>opposed</a:t>
            </a:r>
            <a:r>
              <a:rPr lang="fr-FR" dirty="0"/>
              <a:t> to </a:t>
            </a:r>
            <a:r>
              <a:rPr lang="fr-FR" dirty="0" err="1"/>
              <a:t>using</a:t>
            </a:r>
            <a:r>
              <a:rPr lang="fr-FR" dirty="0"/>
              <a:t> 'Content </a:t>
            </a:r>
            <a:r>
              <a:rPr lang="fr-FR" dirty="0" err="1"/>
              <a:t>here</a:t>
            </a:r>
            <a:r>
              <a:rPr lang="fr-FR" dirty="0"/>
              <a:t>, content </a:t>
            </a:r>
            <a:r>
              <a:rPr lang="fr-FR" dirty="0" err="1"/>
              <a:t>here</a:t>
            </a:r>
            <a:r>
              <a:rPr lang="fr-FR" dirty="0"/>
              <a:t>', </a:t>
            </a:r>
            <a:r>
              <a:rPr lang="fr-FR" dirty="0" err="1"/>
              <a:t>making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look like </a:t>
            </a:r>
            <a:r>
              <a:rPr lang="fr-FR" dirty="0" err="1"/>
              <a:t>readable</a:t>
            </a:r>
            <a:r>
              <a:rPr lang="fr-FR" dirty="0"/>
              <a:t> English. </a:t>
            </a:r>
            <a:r>
              <a:rPr lang="fr-FR" dirty="0" err="1"/>
              <a:t>Many</a:t>
            </a:r>
            <a:r>
              <a:rPr lang="fr-FR" dirty="0"/>
              <a:t> desktop </a:t>
            </a:r>
            <a:r>
              <a:rPr lang="fr-FR" dirty="0" err="1"/>
              <a:t>publishing</a:t>
            </a:r>
            <a:r>
              <a:rPr lang="fr-FR" dirty="0"/>
              <a:t> packages and web page editors </a:t>
            </a:r>
            <a:r>
              <a:rPr lang="fr-FR" dirty="0" err="1"/>
              <a:t>now</a:t>
            </a:r>
            <a:r>
              <a:rPr lang="fr-FR" dirty="0"/>
              <a:t> use Lorem Ipsum as </a:t>
            </a:r>
            <a:r>
              <a:rPr lang="fr-FR" dirty="0" err="1"/>
              <a:t>their</a:t>
            </a:r>
            <a:r>
              <a:rPr lang="fr-FR" dirty="0"/>
              <a:t> default model </a:t>
            </a:r>
            <a:r>
              <a:rPr lang="fr-FR" dirty="0" err="1"/>
              <a:t>text</a:t>
            </a:r>
            <a:r>
              <a:rPr lang="fr-FR" dirty="0"/>
              <a:t>, and a </a:t>
            </a:r>
            <a:r>
              <a:rPr lang="fr-FR" dirty="0" err="1"/>
              <a:t>search</a:t>
            </a:r>
            <a:r>
              <a:rPr lang="fr-FR" dirty="0"/>
              <a:t> for '</a:t>
            </a:r>
            <a:r>
              <a:rPr lang="fr-FR" dirty="0" err="1"/>
              <a:t>lorem</a:t>
            </a:r>
            <a:r>
              <a:rPr lang="fr-FR" dirty="0"/>
              <a:t> ipsum'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uncover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web sites </a:t>
            </a:r>
            <a:r>
              <a:rPr lang="fr-FR" dirty="0" err="1"/>
              <a:t>still</a:t>
            </a:r>
            <a:r>
              <a:rPr lang="fr-FR" dirty="0"/>
              <a:t> in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infancy</a:t>
            </a:r>
            <a:r>
              <a:rPr lang="fr-FR" dirty="0"/>
              <a:t>. </a:t>
            </a:r>
            <a:r>
              <a:rPr lang="fr-FR" dirty="0" err="1"/>
              <a:t>Various</a:t>
            </a:r>
            <a:r>
              <a:rPr lang="fr-FR" dirty="0"/>
              <a:t> versions have </a:t>
            </a:r>
            <a:r>
              <a:rPr lang="fr-FR" dirty="0" err="1"/>
              <a:t>evolved</a:t>
            </a:r>
            <a:r>
              <a:rPr lang="fr-FR" dirty="0"/>
              <a:t> over the </a:t>
            </a:r>
            <a:r>
              <a:rPr lang="fr-FR" dirty="0" err="1"/>
              <a:t>years</a:t>
            </a:r>
            <a:r>
              <a:rPr lang="fr-FR" dirty="0"/>
              <a:t>, </a:t>
            </a:r>
            <a:r>
              <a:rPr lang="fr-FR" dirty="0" err="1"/>
              <a:t>sometimes</a:t>
            </a:r>
            <a:r>
              <a:rPr lang="fr-FR" dirty="0"/>
              <a:t> by accident, </a:t>
            </a:r>
            <a:r>
              <a:rPr lang="fr-FR" dirty="0" err="1"/>
              <a:t>sometimes</a:t>
            </a:r>
            <a:r>
              <a:rPr lang="fr-FR" dirty="0"/>
              <a:t> on </a:t>
            </a:r>
            <a:r>
              <a:rPr lang="fr-FR" dirty="0" err="1"/>
              <a:t>purpose</a:t>
            </a:r>
            <a:r>
              <a:rPr lang="fr-FR" dirty="0"/>
              <a:t> (</a:t>
            </a:r>
            <a:r>
              <a:rPr lang="fr-FR" dirty="0" err="1"/>
              <a:t>injected</a:t>
            </a:r>
            <a:r>
              <a:rPr lang="fr-FR" dirty="0"/>
              <a:t> humour and the like).</a:t>
            </a:r>
          </a:p>
          <a:p>
            <a:br>
              <a:rPr lang="fr-FR" dirty="0"/>
            </a:br>
            <a:r>
              <a:rPr lang="fr-FR" dirty="0">
                <a:solidFill>
                  <a:srgbClr val="2072FF"/>
                </a:solidFill>
              </a:rPr>
              <a:t>WHERE DOES IT COME FROM?</a:t>
            </a:r>
          </a:p>
          <a:p>
            <a:r>
              <a:rPr lang="fr-FR" dirty="0" err="1"/>
              <a:t>Contrary</a:t>
            </a:r>
            <a:r>
              <a:rPr lang="fr-FR" dirty="0"/>
              <a:t> to </a:t>
            </a:r>
            <a:r>
              <a:rPr lang="fr-FR" dirty="0" err="1"/>
              <a:t>popular</a:t>
            </a:r>
            <a:r>
              <a:rPr lang="fr-FR" dirty="0"/>
              <a:t> </a:t>
            </a:r>
            <a:r>
              <a:rPr lang="fr-FR" dirty="0" err="1"/>
              <a:t>belief</a:t>
            </a:r>
            <a:r>
              <a:rPr lang="fr-FR" dirty="0"/>
              <a:t>, Lorem Ipsum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. It has </a:t>
            </a:r>
            <a:r>
              <a:rPr lang="fr-FR" dirty="0" err="1"/>
              <a:t>roots</a:t>
            </a:r>
            <a:r>
              <a:rPr lang="fr-FR" dirty="0"/>
              <a:t> in a </a:t>
            </a:r>
            <a:r>
              <a:rPr lang="fr-FR" dirty="0" err="1"/>
              <a:t>piece</a:t>
            </a:r>
            <a:r>
              <a:rPr lang="fr-FR" dirty="0"/>
              <a:t> of </a:t>
            </a:r>
            <a:r>
              <a:rPr lang="fr-FR" dirty="0" err="1"/>
              <a:t>classical</a:t>
            </a:r>
            <a:r>
              <a:rPr lang="fr-FR" dirty="0"/>
              <a:t> Latin </a:t>
            </a:r>
            <a:r>
              <a:rPr lang="fr-FR" dirty="0" err="1"/>
              <a:t>literature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45 BC, </a:t>
            </a:r>
            <a:r>
              <a:rPr lang="fr-FR" dirty="0" err="1"/>
              <a:t>making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over 2000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. Richard McClintock, a Latin </a:t>
            </a:r>
            <a:r>
              <a:rPr lang="fr-FR" dirty="0" err="1"/>
              <a:t>professor</a:t>
            </a:r>
            <a:r>
              <a:rPr lang="fr-FR" dirty="0"/>
              <a:t> at Hampden-Sydney </a:t>
            </a:r>
            <a:r>
              <a:rPr lang="fr-FR" dirty="0" err="1"/>
              <a:t>College</a:t>
            </a:r>
            <a:r>
              <a:rPr lang="fr-FR" dirty="0"/>
              <a:t> in Virginia, </a:t>
            </a:r>
            <a:r>
              <a:rPr lang="fr-FR" dirty="0" err="1"/>
              <a:t>looked</a:t>
            </a:r>
            <a:r>
              <a:rPr lang="fr-FR" dirty="0"/>
              <a:t> up one of the more obscure Latin </a:t>
            </a:r>
            <a:r>
              <a:rPr lang="fr-FR" dirty="0" err="1"/>
              <a:t>words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from</a:t>
            </a:r>
            <a:r>
              <a:rPr lang="fr-FR" dirty="0"/>
              <a:t> a Lorem Ipsum passage, and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the cites of the </a:t>
            </a:r>
            <a:r>
              <a:rPr lang="fr-FR" dirty="0" err="1"/>
              <a:t>word</a:t>
            </a:r>
            <a:r>
              <a:rPr lang="fr-FR" dirty="0"/>
              <a:t> in </a:t>
            </a:r>
            <a:r>
              <a:rPr lang="fr-FR" dirty="0" err="1"/>
              <a:t>classical</a:t>
            </a:r>
            <a:r>
              <a:rPr lang="fr-FR" dirty="0"/>
              <a:t> </a:t>
            </a:r>
            <a:r>
              <a:rPr lang="fr-FR" dirty="0" err="1"/>
              <a:t>literature</a:t>
            </a:r>
            <a:r>
              <a:rPr lang="fr-FR" dirty="0"/>
              <a:t>, </a:t>
            </a:r>
            <a:r>
              <a:rPr lang="fr-FR" dirty="0" err="1"/>
              <a:t>discovered</a:t>
            </a:r>
            <a:r>
              <a:rPr lang="fr-FR" dirty="0"/>
              <a:t> the </a:t>
            </a:r>
            <a:r>
              <a:rPr lang="fr-FR" dirty="0" err="1"/>
              <a:t>undoubtable</a:t>
            </a:r>
            <a:r>
              <a:rPr lang="fr-FR" dirty="0"/>
              <a:t> source. Lorem Ipsum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sections 1.10.32 and 1.10.33 of "de </a:t>
            </a:r>
            <a:r>
              <a:rPr lang="fr-FR" dirty="0" err="1"/>
              <a:t>Finibus</a:t>
            </a:r>
            <a:r>
              <a:rPr lang="fr-FR" dirty="0"/>
              <a:t> </a:t>
            </a:r>
            <a:r>
              <a:rPr lang="fr-FR" dirty="0" err="1"/>
              <a:t>Bonorum</a:t>
            </a:r>
            <a:r>
              <a:rPr lang="fr-FR" dirty="0"/>
              <a:t> et </a:t>
            </a:r>
            <a:r>
              <a:rPr lang="fr-FR" dirty="0" err="1"/>
              <a:t>Malorum</a:t>
            </a:r>
            <a:r>
              <a:rPr lang="fr-FR" dirty="0"/>
              <a:t>" (The </a:t>
            </a:r>
            <a:r>
              <a:rPr lang="fr-FR" dirty="0" err="1"/>
              <a:t>Extremes</a:t>
            </a:r>
            <a:r>
              <a:rPr lang="fr-FR" dirty="0"/>
              <a:t> of Good and </a:t>
            </a:r>
            <a:r>
              <a:rPr lang="fr-FR" dirty="0" err="1"/>
              <a:t>Evil</a:t>
            </a:r>
            <a:r>
              <a:rPr lang="fr-FR" dirty="0"/>
              <a:t>) by Cicero, </a:t>
            </a:r>
            <a:r>
              <a:rPr lang="fr-FR" dirty="0" err="1"/>
              <a:t>written</a:t>
            </a:r>
            <a:r>
              <a:rPr lang="fr-FR" dirty="0"/>
              <a:t> in 45 BC. This book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treatise</a:t>
            </a:r>
            <a:r>
              <a:rPr lang="fr-FR" dirty="0"/>
              <a:t> on the </a:t>
            </a:r>
            <a:r>
              <a:rPr lang="fr-FR" dirty="0" err="1"/>
              <a:t>theory</a:t>
            </a:r>
            <a:r>
              <a:rPr lang="fr-FR" dirty="0"/>
              <a:t> of </a:t>
            </a:r>
            <a:r>
              <a:rPr lang="fr-FR" dirty="0" err="1"/>
              <a:t>ethics</a:t>
            </a:r>
            <a:r>
              <a:rPr lang="fr-FR" dirty="0"/>
              <a:t>,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popular</a:t>
            </a:r>
            <a:r>
              <a:rPr lang="fr-FR" dirty="0"/>
              <a:t> </a:t>
            </a:r>
            <a:r>
              <a:rPr lang="fr-FR" dirty="0" err="1"/>
              <a:t>during</a:t>
            </a:r>
            <a:r>
              <a:rPr lang="fr-FR" dirty="0"/>
              <a:t> the Renaissance. The first line of Lorem Ipsum, "Lorem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..",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 line in section 1.10.32.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73157DE-2F8F-208E-6AC0-513790E5B45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MÉTHODOLOGIE</a:t>
            </a:r>
            <a:br>
              <a:rPr lang="fr-FR" dirty="0"/>
            </a:br>
            <a:r>
              <a:rPr lang="fr-FR" dirty="0"/>
              <a:t>SUR-MESURE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F792E9F-0CF8-9D6A-2B94-C55CAF7A1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14</a:t>
            </a:fld>
            <a:r>
              <a:rPr lang="fr-FR">
                <a:cs typeface="Review Heavy" pitchFamily="2" charset="77"/>
              </a:rPr>
              <a:t> 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EF7D20-209F-B7A3-1FA5-479BF4A50D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35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8D8BF7C-A1CB-B4E9-C7B1-DEFEB50978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Voici quelques spécificités de HubSpot CRM à prendre en compte lors de la préparation des fichiers :</a:t>
            </a:r>
          </a:p>
          <a:p>
            <a:r>
              <a:rPr lang="fr-FR" dirty="0"/>
              <a:t>#1 - Format des dates : HubSpot vous proposera de lui confirmer le format de date de votre fichier (exemple JJ-MM-AAAA)</a:t>
            </a:r>
          </a:p>
          <a:p>
            <a:r>
              <a:rPr lang="fr-FR" dirty="0"/>
              <a:t>#2 - Propriété “Propriétaire du contact” : indiquer l’adresse email du user HubSpot</a:t>
            </a:r>
          </a:p>
          <a:p>
            <a:r>
              <a:rPr lang="fr-FR" dirty="0"/>
              <a:t>#3 - Pour les propriétés au format “Multiple </a:t>
            </a:r>
            <a:r>
              <a:rPr lang="fr-FR" dirty="0" err="1"/>
              <a:t>checkbox</a:t>
            </a:r>
            <a:r>
              <a:rPr lang="fr-FR" dirty="0"/>
              <a:t> ou Cases à cocher” : les valeurs de la liste déroulante doivent être séparées par un point-virgule et sans espace (exemple : valeur1;valeur2;valeur3)</a:t>
            </a:r>
            <a:br>
              <a:rPr lang="fr-FR" dirty="0"/>
            </a:br>
            <a:endParaRPr lang="fr-FR" dirty="0"/>
          </a:p>
          <a:p>
            <a:r>
              <a:rPr lang="fr-FR" dirty="0"/>
              <a:t>Quels sont les identifiants uniques par objet ?</a:t>
            </a:r>
          </a:p>
          <a:p>
            <a:r>
              <a:rPr lang="fr-FR" dirty="0"/>
              <a:t>#1 - Contacts : Adresse email et Contact ID</a:t>
            </a:r>
          </a:p>
          <a:p>
            <a:r>
              <a:rPr lang="fr-FR" dirty="0"/>
              <a:t>#2 - Entreprises : Nom de domaine de l’entreprise et Entreprise ID</a:t>
            </a:r>
          </a:p>
          <a:p>
            <a:r>
              <a:rPr lang="fr-FR" dirty="0"/>
              <a:t>#3 - Deals : Deal ID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1BBC2D4-C325-D761-D415-0EA3917D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02. PRÉPARER LA STRUCTURE DE VOS FICHIERS D’IMPORT – FICHES CONTACTS/ENTREPRISES</a:t>
            </a:r>
          </a:p>
        </p:txBody>
      </p:sp>
      <p:pic>
        <p:nvPicPr>
          <p:cNvPr id="14" name="Espace réservé pour une image  13" descr="Une image contenant Graphique, graphism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8112B429-35CD-4C57-30C7-AF546AB81BE9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/>
          <a:stretch>
            <a:fillRect/>
          </a:stretch>
        </p:blipFill>
        <p:spPr>
          <a:xfrm>
            <a:off x="7896225" y="3403981"/>
            <a:ext cx="3563938" cy="166611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66712F1-AEC5-E2EE-D0DE-9F033E573C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80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70AD-9666-4F50-A0C8-CFEAB1F9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4A9F0-308E-1A21-C44A-5B3469F2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Espace réservé du contenu 8" descr="Une image contenant habits, graphisme, texte, personne&#10;&#10;Description générée automatiquement">
            <a:extLst>
              <a:ext uri="{FF2B5EF4-FFF2-40B4-BE49-F238E27FC236}">
                <a16:creationId xmlns:a16="http://schemas.microsoft.com/office/drawing/2014/main" id="{FEF9CB2F-3AC8-8BBF-AA62-A974F0944D7A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084905" y="2492375"/>
            <a:ext cx="6165066" cy="349250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0BC913-A27B-1BF7-6688-609461C36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16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245DD61-29C4-A1D8-5AA8-C92983164E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555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5B6316E-F8FF-84CF-30B4-76C7C4C3ED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943B80C-F3C6-1224-2F45-A137050B53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D54777-0C30-8753-8C5B-303F60B4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643801-B887-503B-9A3B-331C7F72A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17</a:t>
            </a:fld>
            <a:r>
              <a:rPr lang="fr-FR"/>
              <a:t> </a:t>
            </a:r>
            <a:endParaRPr lang="fr-FR" dirty="0"/>
          </a:p>
        </p:txBody>
      </p:sp>
      <p:pic>
        <p:nvPicPr>
          <p:cNvPr id="15" name="Espace réservé pour une image  14" descr="Une image contenant personne, graphisme, habits, Graphique&#10;&#10;Description générée automatiquement">
            <a:extLst>
              <a:ext uri="{FF2B5EF4-FFF2-40B4-BE49-F238E27FC236}">
                <a16:creationId xmlns:a16="http://schemas.microsoft.com/office/drawing/2014/main" id="{E80B19A6-1136-72CE-3291-0E77377086CF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/>
          <a:stretch>
            <a:fillRect/>
          </a:stretch>
        </p:blipFill>
        <p:spPr>
          <a:xfrm>
            <a:off x="884238" y="2810818"/>
            <a:ext cx="4249737" cy="2390477"/>
          </a:xfrm>
          <a:prstGeom prst="rect">
            <a:avLst/>
          </a:prstGeom>
        </p:spPr>
      </p:pic>
      <p:pic>
        <p:nvPicPr>
          <p:cNvPr id="17" name="Espace réservé pour une image  16" descr="Une image contenant capture d’écran, panorama&#10;&#10;Description générée automatiquement">
            <a:extLst>
              <a:ext uri="{FF2B5EF4-FFF2-40B4-BE49-F238E27FC236}">
                <a16:creationId xmlns:a16="http://schemas.microsoft.com/office/drawing/2014/main" id="{95F06933-1DC8-0EE2-CC67-4E264E94A836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3"/>
          <a:stretch>
            <a:fillRect/>
          </a:stretch>
        </p:blipFill>
        <p:spPr>
          <a:xfrm>
            <a:off x="6183313" y="3345309"/>
            <a:ext cx="4233862" cy="1323081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5F5A47A-7AE3-A945-702E-1F5C6997EBA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476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1169DBF-1DB1-1F4D-FC83-ED4467C8F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 err="1"/>
              <a:t>gjgu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E04532A-AC16-1CD5-34F4-BF84AC10DD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 err="1"/>
              <a:t>Frferf</a:t>
            </a:r>
            <a:r>
              <a:rPr lang="fr-FR" dirty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31F8A3-E564-FF00-BCA1-3F211C1A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61AB4A-5F87-61D4-DCE8-9D0ABE884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18</a:t>
            </a:fld>
            <a:r>
              <a:rPr lang="fr-FR"/>
              <a:t> </a:t>
            </a:r>
            <a:endParaRPr lang="fr-FR" dirty="0"/>
          </a:p>
        </p:txBody>
      </p:sp>
      <p:pic>
        <p:nvPicPr>
          <p:cNvPr id="12" name="Espace réservé pour une image  11" descr="Une image contenant personne, ongle, doigt, poignet&#10;&#10;Description générée automatiquement">
            <a:extLst>
              <a:ext uri="{FF2B5EF4-FFF2-40B4-BE49-F238E27FC236}">
                <a16:creationId xmlns:a16="http://schemas.microsoft.com/office/drawing/2014/main" id="{6C3581DE-4849-FADE-6ADD-ABD268588FB9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/>
          <a:stretch>
            <a:fillRect/>
          </a:stretch>
        </p:blipFill>
        <p:spPr>
          <a:xfrm>
            <a:off x="884238" y="2810818"/>
            <a:ext cx="4249737" cy="2390477"/>
          </a:xfrm>
          <a:prstGeom prst="rect">
            <a:avLst/>
          </a:prstGeom>
        </p:spPr>
      </p:pic>
      <p:pic>
        <p:nvPicPr>
          <p:cNvPr id="14" name="Espace réservé pour une image  13" descr="Une image contenant capture d’écran, panorama&#10;&#10;Description générée automatiquement">
            <a:extLst>
              <a:ext uri="{FF2B5EF4-FFF2-40B4-BE49-F238E27FC236}">
                <a16:creationId xmlns:a16="http://schemas.microsoft.com/office/drawing/2014/main" id="{928A5DB9-648D-58D7-96E0-5E9266A29B48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3"/>
          <a:stretch>
            <a:fillRect/>
          </a:stretch>
        </p:blipFill>
        <p:spPr>
          <a:xfrm>
            <a:off x="6183313" y="3345309"/>
            <a:ext cx="4233862" cy="1323081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4516D7-E9F5-0917-4580-CB289A1C5DE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EFD355-8F0B-B286-9339-5C405935B9E9}"/>
              </a:ext>
            </a:extLst>
          </p:cNvPr>
          <p:cNvSpPr txBox="1">
            <a:spLocks/>
          </p:cNvSpPr>
          <p:nvPr/>
        </p:nvSpPr>
        <p:spPr>
          <a:xfrm>
            <a:off x="791492" y="280525"/>
            <a:ext cx="60993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fr-FR" sz="900" b="1" cap="all" dirty="0">
                <a:latin typeface="Arial Black" panose="020B0604020202020204" pitchFamily="34" charset="0"/>
                <a:cs typeface="Arial Black" panose="020B0604020202020204" pitchFamily="34" charset="0"/>
              </a:rPr>
              <a:t>1. NOM PARTIE</a:t>
            </a:r>
            <a:r>
              <a:rPr lang="fr-FR" sz="900" b="1" cap="all" baseline="0" dirty="0">
                <a:latin typeface="Arial Black" panose="020B0604020202020204" pitchFamily="34" charset="0"/>
                <a:cs typeface="Arial Black" panose="020B0604020202020204" pitchFamily="34" charset="0"/>
              </a:rPr>
              <a:t> | </a:t>
            </a:r>
            <a:r>
              <a:rPr lang="fr-FR" sz="900" b="1" cap="all" baseline="0" dirty="0">
                <a:solidFill>
                  <a:srgbClr val="2072F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1.1 NOM SOUS PARTIE</a:t>
            </a:r>
            <a:endParaRPr lang="fr-FR" sz="900" b="1" cap="all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0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2B154DD-8E70-BCA9-2F53-E4125833CA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Les informations à paramétrer :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Nom : saisissez un nom pour le produit ou service.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Référence produit : si vous utilisez différentes références produits pour identifier et effectuer le suivi de vos produits ou services, saisissez le nom de la référence produit. Chaque produit doit posséder une référence unique. 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Description : saisissez une description du produit, telle que les fonctionnalités du produit, les options supplémentaires ou les mesures.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Images : saisissez une URL d'image. L'image elle-même ne sera pas affichée, mais vous pouvez inclure le lien du fichier pour un accès rapide. 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URL : si vous stockez vos produits en dehors de HubSpot, comme sur </a:t>
            </a:r>
            <a:r>
              <a:rPr lang="fr-FR" dirty="0" err="1"/>
              <a:t>Shopify</a:t>
            </a:r>
            <a:r>
              <a:rPr lang="fr-FR" dirty="0"/>
              <a:t>, vous pouvez saisir l'URL de la page qui renvoie vers cet autre endroit. 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Dossier : si vous organisez vos produits dans différents dossiers, cliquez sur le menu déroulant Dossiers et sélectionnez un dossier.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Prix [devise] : saisissez la valeur du produit dans la devise de votre compte.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Fréquence de facturation : sélectionnez la fréquence de facturation de vos contacts pour le produit ou service.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Coût unitaire : saisissez le coût par unité. HubSpot calculera la marge en fonction de tout ce que vous vendez. Il vous permet de déterminer le montant que vous gagnez par vente.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Prix en devises multiples : si vous utilisez plusieurs devises dans votre compte, vous devez ajouter manuellement le prix pour chaque devise correspondante dans les champs désignés.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fr-FR" dirty="0"/>
              <a:t>Durée de la période : saisissez une durée en mois ou en années.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A003F70A-59B4-0A80-1ED8-822B4BF6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Arial Black" panose="020B0A04020102020204" pitchFamily="34" charset="0"/>
              </a:rPr>
              <a:t>01. CRÉER </a:t>
            </a:r>
            <a:r>
              <a:rPr lang="fr-FR" b="1" dirty="0" err="1">
                <a:latin typeface="Arial Black" panose="020B0A04020102020204" pitchFamily="34" charset="0"/>
              </a:rPr>
              <a:t>VpOTRE</a:t>
            </a:r>
            <a:r>
              <a:rPr lang="fr-FR" b="1" dirty="0">
                <a:latin typeface="Arial Black" panose="020B0A04020102020204" pitchFamily="34" charset="0"/>
              </a:rPr>
              <a:t> BIBLIOTHÈQUE DE PRODUITS</a:t>
            </a:r>
            <a:br>
              <a:rPr lang="fr-FR" b="1" dirty="0">
                <a:solidFill>
                  <a:srgbClr val="272311"/>
                </a:solidFill>
                <a:latin typeface="Arial Black" panose="020B0A04020102020204" pitchFamily="34" charset="0"/>
              </a:rPr>
            </a:b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AA3A79-E7AD-A5AD-EF5E-F7CE4B22E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/>
              <a:t>P.</a:t>
            </a:r>
            <a:fld id="{F00FD67B-C8C4-DB46-A487-CDD26765F7CE}" type="slidenum">
              <a:rPr lang="fr-FR" smtClean="0"/>
              <a:pPr/>
              <a:t>19</a:t>
            </a:fld>
            <a:r>
              <a:rPr lang="fr-FR"/>
              <a:t> </a:t>
            </a: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18849E6-F39F-EDD2-EAA5-94D4A10EFC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058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ADC5E-596E-2205-9891-61CFC291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063788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24F1FE-D3B3-4A0B-53FB-549B92F6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545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183287"/>
      </p:ext>
    </p:extLst>
  </p:cSld>
  <p:clrMapOvr>
    <a:masterClrMapping/>
  </p:clrMapOvr>
</p:sld>
</file>

<file path=ppt/theme/theme1.xml><?xml version="1.0" encoding="utf-8"?>
<a:theme xmlns:a="http://schemas.openxmlformats.org/drawingml/2006/main" name="1 COLONN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b="0" dirty="0" err="1" smtClean="0">
            <a:solidFill>
              <a:srgbClr val="2072FF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 COLON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b="0" dirty="0" err="1" smtClean="0">
            <a:solidFill>
              <a:srgbClr val="2072FF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 COLON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b="0" dirty="0" err="1" smtClean="0">
            <a:solidFill>
              <a:srgbClr val="2072FF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AG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14ED4296F7D94489FDE9738B1F785F" ma:contentTypeVersion="18" ma:contentTypeDescription="Crée un document." ma:contentTypeScope="" ma:versionID="a129d51cbb4245a7c1e5110d9564dde3">
  <xsd:schema xmlns:xsd="http://www.w3.org/2001/XMLSchema" xmlns:xs="http://www.w3.org/2001/XMLSchema" xmlns:p="http://schemas.microsoft.com/office/2006/metadata/properties" xmlns:ns2="d36f4056-a181-4ec1-8ad4-ee6c8ae69ce7" xmlns:ns3="1f35da00-3ef2-402b-aa01-bf35f7a123d9" targetNamespace="http://schemas.microsoft.com/office/2006/metadata/properties" ma:root="true" ma:fieldsID="b4f0956065b2cd627d32ed6649e0e804" ns2:_="" ns3:_="">
    <xsd:import namespace="d36f4056-a181-4ec1-8ad4-ee6c8ae69ce7"/>
    <xsd:import namespace="1f35da00-3ef2-402b-aa01-bf35f7a123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6f4056-a181-4ec1-8ad4-ee6c8ae69c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74cfa6a2-bcea-45a6-adb1-44a7069cad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5da00-3ef2-402b-aa01-bf35f7a123d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b025fd5-1d8c-43b2-903c-8cfe36eb706d}" ma:internalName="TaxCatchAll" ma:showField="CatchAllData" ma:web="1f35da00-3ef2-402b-aa01-bf35f7a123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6f4056-a181-4ec1-8ad4-ee6c8ae69ce7">
      <Terms xmlns="http://schemas.microsoft.com/office/infopath/2007/PartnerControls"/>
    </lcf76f155ced4ddcb4097134ff3c332f>
    <TaxCatchAll xmlns="1f35da00-3ef2-402b-aa01-bf35f7a123d9" xsi:nil="true"/>
  </documentManagement>
</p:properties>
</file>

<file path=customXml/itemProps1.xml><?xml version="1.0" encoding="utf-8"?>
<ds:datastoreItem xmlns:ds="http://schemas.openxmlformats.org/officeDocument/2006/customXml" ds:itemID="{E75FD73B-790D-466A-9F21-A9E77FC7EA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6f4056-a181-4ec1-8ad4-ee6c8ae69ce7"/>
    <ds:schemaRef ds:uri="1f35da00-3ef2-402b-aa01-bf35f7a123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2B18BD-F254-48D5-B809-00BF0C423B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154027-2E3B-4997-A0C3-331C5AF3A153}">
  <ds:schemaRefs>
    <ds:schemaRef ds:uri="http://schemas.microsoft.com/office/2006/metadata/properties"/>
    <ds:schemaRef ds:uri="http://schemas.microsoft.com/office/infopath/2007/PartnerControls"/>
    <ds:schemaRef ds:uri="dbe9894e-683e-46bb-bc95-f9307ebe80ff"/>
    <ds:schemaRef ds:uri="b9ac8369-a07b-4a5e-8895-d5f968c288e2"/>
    <ds:schemaRef ds:uri="d36f4056-a181-4ec1-8ad4-ee6c8ae69ce7"/>
    <ds:schemaRef ds:uri="1f35da00-3ef2-402b-aa01-bf35f7a123d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11370</TotalTime>
  <Words>1853</Words>
  <Application>Microsoft Office PowerPoint</Application>
  <PresentationFormat>Grand écran</PresentationFormat>
  <Paragraphs>137</Paragraphs>
  <Slides>22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4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1 COLONNE</vt:lpstr>
      <vt:lpstr>2 COLONNES</vt:lpstr>
      <vt:lpstr>3 COLONNES</vt:lpstr>
      <vt:lpstr>PAGES</vt:lpstr>
      <vt:lpstr>Présentation PowerPoint</vt:lpstr>
      <vt:lpstr>Présentation PowerPoint</vt:lpstr>
      <vt:lpstr>Présentation PowerPoint</vt:lpstr>
      <vt:lpstr>EXEMPLE DE TABLEAU 1</vt:lpstr>
      <vt:lpstr>EXEMPLE DE TABLEAU 2</vt:lpstr>
      <vt:lpstr>Budget planning</vt:lpstr>
      <vt:lpstr>Budget planning</vt:lpstr>
      <vt:lpstr>NOUS REPENSONS LA NOTION DE SERVICE DANS LE secteur technologique</vt:lpstr>
      <vt:lpstr>méthodologie</vt:lpstr>
      <vt:lpstr>MÉTHODOLOGIE</vt:lpstr>
      <vt:lpstr>MÉTHODOLOGIE</vt:lpstr>
      <vt:lpstr>LES VALEURS DE LA DÉMARCHE</vt:lpstr>
      <vt:lpstr>MÉTHODOLOGIE SUR-MESURE</vt:lpstr>
      <vt:lpstr>MÉTHODOLOGIE SUR-MESURE</vt:lpstr>
      <vt:lpstr>02. PRÉPARER LA STRUCTURE DE VOS FICHIERS D’IMPORT – FICHES CONTACTS/ENTREPRISES</vt:lpstr>
      <vt:lpstr>Présentation PowerPoint</vt:lpstr>
      <vt:lpstr>Présentation PowerPoint</vt:lpstr>
      <vt:lpstr>Présentation PowerPoint</vt:lpstr>
      <vt:lpstr>01. CRÉER VpOTRE BIBLIOTHÈQUE DE PRODUITS </vt:lpstr>
      <vt:lpstr>FIN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SAUVAGEOT</dc:creator>
  <cp:lastModifiedBy>Marie LE MAT</cp:lastModifiedBy>
  <cp:revision>71</cp:revision>
  <dcterms:created xsi:type="dcterms:W3CDTF">2024-10-29T15:54:00Z</dcterms:created>
  <dcterms:modified xsi:type="dcterms:W3CDTF">2026-01-28T11:38:48Z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0x0101003014ED4296F7D94489FDE9738B1F785F</vt:lpwstr>
  </property>
  <property fmtid="{D5CDD505-2E9C-101B-9397-08002B2CF9AE}" pid="3" name="MediaServiceImageTags">
    <vt:lpwstr/>
  </property>
</Properties>
</file>